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9"/>
  </p:notesMasterIdLst>
  <p:sldIdLst>
    <p:sldId id="256" r:id="rId2"/>
    <p:sldId id="261" r:id="rId3"/>
    <p:sldId id="263" r:id="rId4"/>
    <p:sldId id="264" r:id="rId5"/>
    <p:sldId id="265" r:id="rId6"/>
    <p:sldId id="274" r:id="rId7"/>
    <p:sldId id="282" r:id="rId8"/>
  </p:sldIdLst>
  <p:sldSz cx="9144000" cy="5143500" type="screen16x9"/>
  <p:notesSz cx="6858000" cy="9144000"/>
  <p:embeddedFontLst>
    <p:embeddedFont>
      <p:font typeface="Albert Sans" panose="020B0604020202020204" charset="0"/>
      <p:regular r:id="rId10"/>
      <p:bold r:id="rId11"/>
      <p:italic r:id="rId12"/>
      <p:boldItalic r:id="rId13"/>
    </p:embeddedFont>
    <p:embeddedFont>
      <p:font typeface="Bebas Neue" panose="020B0606020202050201" pitchFamily="3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arcellus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F12DDB-5460-4E64-A54B-4B8082CA19D4}">
  <a:tblStyle styleId="{52F12DDB-5460-4E64-A54B-4B8082CA19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C84EA22-2B38-4E4D-A435-85CB05C8EEA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678300"/>
            <a:ext cx="39558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4190900"/>
            <a:ext cx="3955800" cy="41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-7775" y="539500"/>
            <a:ext cx="9149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20000" y="53948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8" name="Google Shape;38;p6"/>
          <p:cNvCxnSpPr/>
          <p:nvPr/>
        </p:nvCxnSpPr>
        <p:spPr>
          <a:xfrm>
            <a:off x="713225" y="5395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39;p6"/>
          <p:cNvCxnSpPr/>
          <p:nvPr/>
        </p:nvCxnSpPr>
        <p:spPr>
          <a:xfrm>
            <a:off x="713225" y="46040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1138100" y="2153700"/>
            <a:ext cx="2558700" cy="10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1138100" y="3195300"/>
            <a:ext cx="25587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92" name="Google Shape;92;p16"/>
          <p:cNvCxnSpPr/>
          <p:nvPr/>
        </p:nvCxnSpPr>
        <p:spPr>
          <a:xfrm>
            <a:off x="713225" y="5395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6"/>
          <p:cNvCxnSpPr/>
          <p:nvPr/>
        </p:nvCxnSpPr>
        <p:spPr>
          <a:xfrm>
            <a:off x="713225" y="46040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subTitle" idx="1"/>
          </p:nvPr>
        </p:nvSpPr>
        <p:spPr>
          <a:xfrm>
            <a:off x="4923249" y="2969300"/>
            <a:ext cx="2505600" cy="8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2"/>
          </p:nvPr>
        </p:nvSpPr>
        <p:spPr>
          <a:xfrm>
            <a:off x="1715375" y="2969300"/>
            <a:ext cx="2505600" cy="8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3"/>
          </p:nvPr>
        </p:nvSpPr>
        <p:spPr>
          <a:xfrm>
            <a:off x="1715375" y="2481675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4"/>
          </p:nvPr>
        </p:nvSpPr>
        <p:spPr>
          <a:xfrm>
            <a:off x="4923250" y="2481675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3" name="Google Shape;113;p19"/>
          <p:cNvCxnSpPr/>
          <p:nvPr/>
        </p:nvCxnSpPr>
        <p:spPr>
          <a:xfrm>
            <a:off x="713225" y="5395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" name="Google Shape;114;p19"/>
          <p:cNvCxnSpPr/>
          <p:nvPr/>
        </p:nvCxnSpPr>
        <p:spPr>
          <a:xfrm>
            <a:off x="713225" y="46040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1"/>
          </p:nvPr>
        </p:nvSpPr>
        <p:spPr>
          <a:xfrm>
            <a:off x="4134073" y="1648175"/>
            <a:ext cx="3033900" cy="2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2"/>
          </p:nvPr>
        </p:nvSpPr>
        <p:spPr>
          <a:xfrm>
            <a:off x="713225" y="1648175"/>
            <a:ext cx="3033900" cy="2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8430775" y="-100"/>
            <a:ext cx="713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1" name="Google Shape;121;p20"/>
          <p:cNvCxnSpPr/>
          <p:nvPr/>
        </p:nvCxnSpPr>
        <p:spPr>
          <a:xfrm>
            <a:off x="714925" y="4604000"/>
            <a:ext cx="771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20"/>
          <p:cNvCxnSpPr/>
          <p:nvPr/>
        </p:nvCxnSpPr>
        <p:spPr>
          <a:xfrm>
            <a:off x="714925" y="539500"/>
            <a:ext cx="771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1"/>
          </p:nvPr>
        </p:nvSpPr>
        <p:spPr>
          <a:xfrm>
            <a:off x="873500" y="3008075"/>
            <a:ext cx="2213700" cy="7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2"/>
          </p:nvPr>
        </p:nvSpPr>
        <p:spPr>
          <a:xfrm>
            <a:off x="3465147" y="3008075"/>
            <a:ext cx="2213700" cy="7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3"/>
          </p:nvPr>
        </p:nvSpPr>
        <p:spPr>
          <a:xfrm>
            <a:off x="6056800" y="3008075"/>
            <a:ext cx="2213700" cy="7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4"/>
          </p:nvPr>
        </p:nvSpPr>
        <p:spPr>
          <a:xfrm>
            <a:off x="873500" y="2553500"/>
            <a:ext cx="2213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5"/>
          </p:nvPr>
        </p:nvSpPr>
        <p:spPr>
          <a:xfrm>
            <a:off x="3465151" y="2553500"/>
            <a:ext cx="2213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6"/>
          </p:nvPr>
        </p:nvSpPr>
        <p:spPr>
          <a:xfrm>
            <a:off x="6056801" y="2553500"/>
            <a:ext cx="2213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32" name="Google Shape;132;p21"/>
          <p:cNvCxnSpPr/>
          <p:nvPr/>
        </p:nvCxnSpPr>
        <p:spPr>
          <a:xfrm>
            <a:off x="713225" y="5395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21"/>
          <p:cNvCxnSpPr/>
          <p:nvPr/>
        </p:nvCxnSpPr>
        <p:spPr>
          <a:xfrm>
            <a:off x="713225" y="46040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ubTitle" idx="1"/>
          </p:nvPr>
        </p:nvSpPr>
        <p:spPr>
          <a:xfrm>
            <a:off x="2038221" y="1893650"/>
            <a:ext cx="1925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2"/>
          </p:nvPr>
        </p:nvSpPr>
        <p:spPr>
          <a:xfrm>
            <a:off x="5254738" y="1893650"/>
            <a:ext cx="1925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subTitle" idx="3"/>
          </p:nvPr>
        </p:nvSpPr>
        <p:spPr>
          <a:xfrm>
            <a:off x="2038221" y="3472900"/>
            <a:ext cx="1925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subTitle" idx="4"/>
          </p:nvPr>
        </p:nvSpPr>
        <p:spPr>
          <a:xfrm>
            <a:off x="5254738" y="3472900"/>
            <a:ext cx="1925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subTitle" idx="5"/>
          </p:nvPr>
        </p:nvSpPr>
        <p:spPr>
          <a:xfrm>
            <a:off x="2038221" y="1610050"/>
            <a:ext cx="1925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6"/>
          </p:nvPr>
        </p:nvSpPr>
        <p:spPr>
          <a:xfrm>
            <a:off x="2038221" y="3189375"/>
            <a:ext cx="1925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ubTitle" idx="7"/>
          </p:nvPr>
        </p:nvSpPr>
        <p:spPr>
          <a:xfrm>
            <a:off x="5254735" y="1610050"/>
            <a:ext cx="1925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ubTitle" idx="8"/>
          </p:nvPr>
        </p:nvSpPr>
        <p:spPr>
          <a:xfrm>
            <a:off x="5254735" y="3189375"/>
            <a:ext cx="1925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45" name="Google Shape;145;p22"/>
          <p:cNvCxnSpPr/>
          <p:nvPr/>
        </p:nvCxnSpPr>
        <p:spPr>
          <a:xfrm>
            <a:off x="713225" y="5395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713225" y="460400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/>
          <p:nvPr/>
        </p:nvSpPr>
        <p:spPr>
          <a:xfrm>
            <a:off x="0" y="539500"/>
            <a:ext cx="2578800" cy="40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9" name="Google Shape;209;p29"/>
          <p:cNvCxnSpPr/>
          <p:nvPr/>
        </p:nvCxnSpPr>
        <p:spPr>
          <a:xfrm>
            <a:off x="-7775" y="539500"/>
            <a:ext cx="9149400" cy="0"/>
          </a:xfrm>
          <a:prstGeom prst="straightConnector1">
            <a:avLst/>
          </a:prstGeom>
          <a:noFill/>
          <a:ln w="9525" cap="flat" cmpd="sng">
            <a:solidFill>
              <a:srgbClr val="08100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9"/>
          <p:cNvCxnSpPr/>
          <p:nvPr/>
        </p:nvCxnSpPr>
        <p:spPr>
          <a:xfrm>
            <a:off x="-7775" y="4604000"/>
            <a:ext cx="9149400" cy="0"/>
          </a:xfrm>
          <a:prstGeom prst="straightConnector1">
            <a:avLst/>
          </a:prstGeom>
          <a:noFill/>
          <a:ln w="9525" cap="flat" cmpd="sng">
            <a:solidFill>
              <a:srgbClr val="08100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 rotWithShape="1">
          <a:blip r:embed="rId2">
            <a:alphaModFix amt="52000"/>
          </a:blip>
          <a:srcRect t="24902"/>
          <a:stretch/>
        </p:blipFill>
        <p:spPr>
          <a:xfrm>
            <a:off x="2" y="0"/>
            <a:ext cx="9144003" cy="51434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30"/>
          <p:cNvCxnSpPr/>
          <p:nvPr/>
        </p:nvCxnSpPr>
        <p:spPr>
          <a:xfrm>
            <a:off x="713225" y="-3975"/>
            <a:ext cx="0" cy="515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30"/>
          <p:cNvCxnSpPr/>
          <p:nvPr/>
        </p:nvCxnSpPr>
        <p:spPr>
          <a:xfrm>
            <a:off x="8430775" y="-3975"/>
            <a:ext cx="0" cy="515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30"/>
          <p:cNvSpPr/>
          <p:nvPr/>
        </p:nvSpPr>
        <p:spPr>
          <a:xfrm>
            <a:off x="0" y="4604000"/>
            <a:ext cx="9144000" cy="53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ECB20A-D5B9-E50B-6AEA-F4BB1B8756E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628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#INTERNO#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62" r:id="rId4"/>
    <p:sldLayoutId id="2147483665" r:id="rId5"/>
    <p:sldLayoutId id="2147483666" r:id="rId6"/>
    <p:sldLayoutId id="2147483667" r:id="rId7"/>
    <p:sldLayoutId id="2147483668" r:id="rId8"/>
    <p:sldLayoutId id="2147483675" r:id="rId9"/>
    <p:sldLayoutId id="214748367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klT5kqnC-Rb--dAZ_KSMjTe6xG3Y2YScNdTjnm559U/co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>
            <a:spLocks noGrp="1"/>
          </p:cNvSpPr>
          <p:nvPr>
            <p:ph type="ctrTitle"/>
          </p:nvPr>
        </p:nvSpPr>
        <p:spPr>
          <a:xfrm>
            <a:off x="702109" y="1159800"/>
            <a:ext cx="39558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ANÁLISE DE DADOS PARA ESTRATÉGIAS DE CRM</a:t>
            </a:r>
            <a:endParaRPr dirty="0"/>
          </a:p>
        </p:txBody>
      </p:sp>
      <p:sp>
        <p:nvSpPr>
          <p:cNvPr id="228" name="Google Shape;228;p34"/>
          <p:cNvSpPr/>
          <p:nvPr/>
        </p:nvSpPr>
        <p:spPr>
          <a:xfrm>
            <a:off x="4950900" y="2813700"/>
            <a:ext cx="4193100" cy="2329800"/>
          </a:xfrm>
          <a:prstGeom prst="rect">
            <a:avLst/>
          </a:prstGeom>
          <a:solidFill>
            <a:srgbClr val="EF76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4"/>
          <p:cNvSpPr txBox="1">
            <a:spLocks noGrp="1"/>
          </p:cNvSpPr>
          <p:nvPr>
            <p:ph type="subTitle" idx="1"/>
          </p:nvPr>
        </p:nvSpPr>
        <p:spPr>
          <a:xfrm>
            <a:off x="713225" y="227525"/>
            <a:ext cx="1651500" cy="3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CRM ANALYSIS</a:t>
            </a:r>
            <a:endParaRPr sz="1200" dirty="0"/>
          </a:p>
        </p:txBody>
      </p:sp>
      <p:cxnSp>
        <p:nvCxnSpPr>
          <p:cNvPr id="231" name="Google Shape;231;p34"/>
          <p:cNvCxnSpPr/>
          <p:nvPr/>
        </p:nvCxnSpPr>
        <p:spPr>
          <a:xfrm>
            <a:off x="4950950" y="548375"/>
            <a:ext cx="0" cy="458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34"/>
          <p:cNvCxnSpPr/>
          <p:nvPr/>
        </p:nvCxnSpPr>
        <p:spPr>
          <a:xfrm>
            <a:off x="4950975" y="2807675"/>
            <a:ext cx="4190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B775CDF-920B-EBAC-B40E-C1EDF11F2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89" y="728759"/>
            <a:ext cx="2114166" cy="21141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ENTENDIMENTO DO NEGÓCIO</a:t>
            </a:r>
            <a:endParaRPr dirty="0"/>
          </a:p>
        </p:txBody>
      </p:sp>
      <p:sp>
        <p:nvSpPr>
          <p:cNvPr id="297" name="Google Shape;297;p39"/>
          <p:cNvSpPr txBox="1">
            <a:spLocks noGrp="1"/>
          </p:cNvSpPr>
          <p:nvPr>
            <p:ph type="subTitle" idx="1"/>
          </p:nvPr>
        </p:nvSpPr>
        <p:spPr>
          <a:xfrm>
            <a:off x="796352" y="3259794"/>
            <a:ext cx="3033900" cy="1102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OBJETIVO: </a:t>
            </a:r>
            <a:r>
              <a:rPr lang="en" dirty="0"/>
              <a:t>DETERMINAR CLIENTES PROPENSOS PARA COMPRA DA PRÓXIMA CAMPANHA.</a:t>
            </a:r>
            <a:endParaRPr dirty="0"/>
          </a:p>
        </p:txBody>
      </p:sp>
      <p:sp>
        <p:nvSpPr>
          <p:cNvPr id="298" name="Google Shape;298;p39"/>
          <p:cNvSpPr txBox="1">
            <a:spLocks noGrp="1"/>
          </p:cNvSpPr>
          <p:nvPr>
            <p:ph type="subTitle" idx="2"/>
          </p:nvPr>
        </p:nvSpPr>
        <p:spPr>
          <a:xfrm>
            <a:off x="796352" y="1378012"/>
            <a:ext cx="3033900" cy="21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Clientes contatados para intenção de aceite em campanhas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Marcação dos clientes que compraram em alguma das campanhas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Base com dados sócio-demográficos e dados de compras</a:t>
            </a:r>
            <a:endParaRPr dirty="0"/>
          </a:p>
        </p:txBody>
      </p:sp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4788CD34-2E06-D229-C12A-5BB6C17731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738462" y="4548582"/>
            <a:ext cx="685538" cy="6855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ANÁLISE DA BD</a:t>
            </a:r>
            <a:endParaRPr dirty="0"/>
          </a:p>
        </p:txBody>
      </p:sp>
      <p:sp>
        <p:nvSpPr>
          <p:cNvPr id="314" name="Google Shape;314;p41"/>
          <p:cNvSpPr txBox="1">
            <a:spLocks noGrp="1"/>
          </p:cNvSpPr>
          <p:nvPr>
            <p:ph type="subTitle" idx="2"/>
          </p:nvPr>
        </p:nvSpPr>
        <p:spPr>
          <a:xfrm>
            <a:off x="1164849" y="1696650"/>
            <a:ext cx="7020145" cy="2907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2.240 registros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29 colunas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Coluna Income com campos nulos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334 responderam sim para intenção de adquirir campanha (14,91% da base)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463 que adquiriu alguma das 5 campanhas (20,66% da base)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188 responderam sim para intenção e adquiriram alguma das 5 campanhas (8,39% da base)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275 responderam não/não responderam e adquiriram alguma das 5 campanhas (12,28% da base)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15" name="Google Shape;315;p41"/>
          <p:cNvSpPr txBox="1">
            <a:spLocks noGrp="1"/>
          </p:cNvSpPr>
          <p:nvPr>
            <p:ph type="subTitle" idx="3"/>
          </p:nvPr>
        </p:nvSpPr>
        <p:spPr>
          <a:xfrm>
            <a:off x="1133085" y="1202400"/>
            <a:ext cx="367018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GRANDES NÚMEROS</a:t>
            </a:r>
            <a:endParaRPr sz="1800" dirty="0"/>
          </a:p>
        </p:txBody>
      </p:sp>
      <p:grpSp>
        <p:nvGrpSpPr>
          <p:cNvPr id="318" name="Google Shape;318;p41"/>
          <p:cNvGrpSpPr/>
          <p:nvPr/>
        </p:nvGrpSpPr>
        <p:grpSpPr>
          <a:xfrm>
            <a:off x="639752" y="1300828"/>
            <a:ext cx="419390" cy="415372"/>
            <a:chOff x="1243893" y="1323028"/>
            <a:chExt cx="419390" cy="415372"/>
          </a:xfrm>
        </p:grpSpPr>
        <p:sp>
          <p:nvSpPr>
            <p:cNvPr id="319" name="Google Shape;319;p41"/>
            <p:cNvSpPr/>
            <p:nvPr/>
          </p:nvSpPr>
          <p:spPr>
            <a:xfrm>
              <a:off x="1439438" y="1517805"/>
              <a:ext cx="24142" cy="25015"/>
            </a:xfrm>
            <a:custGeom>
              <a:avLst/>
              <a:gdLst/>
              <a:ahLst/>
              <a:cxnLst/>
              <a:rect l="l" t="t" r="r" b="b"/>
              <a:pathLst>
                <a:path w="691" h="716" extrusionOk="0">
                  <a:moveTo>
                    <a:pt x="358" y="1"/>
                  </a:moveTo>
                  <a:cubicBezTo>
                    <a:pt x="167" y="1"/>
                    <a:pt x="0" y="167"/>
                    <a:pt x="0" y="358"/>
                  </a:cubicBezTo>
                  <a:cubicBezTo>
                    <a:pt x="0" y="548"/>
                    <a:pt x="167" y="715"/>
                    <a:pt x="358" y="715"/>
                  </a:cubicBezTo>
                  <a:cubicBezTo>
                    <a:pt x="548" y="715"/>
                    <a:pt x="691" y="548"/>
                    <a:pt x="691" y="358"/>
                  </a:cubicBezTo>
                  <a:cubicBezTo>
                    <a:pt x="691" y="167"/>
                    <a:pt x="548" y="1"/>
                    <a:pt x="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1"/>
            <p:cNvSpPr/>
            <p:nvPr/>
          </p:nvSpPr>
          <p:spPr>
            <a:xfrm>
              <a:off x="1361213" y="1440418"/>
              <a:ext cx="180592" cy="180592"/>
            </a:xfrm>
            <a:custGeom>
              <a:avLst/>
              <a:gdLst/>
              <a:ahLst/>
              <a:cxnLst/>
              <a:rect l="l" t="t" r="r" b="b"/>
              <a:pathLst>
                <a:path w="5169" h="5169" extrusionOk="0">
                  <a:moveTo>
                    <a:pt x="2597" y="1525"/>
                  </a:moveTo>
                  <a:cubicBezTo>
                    <a:pt x="3168" y="1525"/>
                    <a:pt x="3644" y="2001"/>
                    <a:pt x="3644" y="2573"/>
                  </a:cubicBezTo>
                  <a:cubicBezTo>
                    <a:pt x="3644" y="3144"/>
                    <a:pt x="3168" y="3621"/>
                    <a:pt x="2597" y="3621"/>
                  </a:cubicBezTo>
                  <a:cubicBezTo>
                    <a:pt x="2025" y="3621"/>
                    <a:pt x="1549" y="3144"/>
                    <a:pt x="1549" y="2573"/>
                  </a:cubicBezTo>
                  <a:cubicBezTo>
                    <a:pt x="1549" y="2001"/>
                    <a:pt x="2001" y="1525"/>
                    <a:pt x="2597" y="1525"/>
                  </a:cubicBezTo>
                  <a:close/>
                  <a:moveTo>
                    <a:pt x="2358" y="1"/>
                  </a:moveTo>
                  <a:lnTo>
                    <a:pt x="2287" y="668"/>
                  </a:lnTo>
                  <a:cubicBezTo>
                    <a:pt x="2263" y="811"/>
                    <a:pt x="2168" y="930"/>
                    <a:pt x="2049" y="977"/>
                  </a:cubicBezTo>
                  <a:cubicBezTo>
                    <a:pt x="1977" y="1001"/>
                    <a:pt x="1882" y="1025"/>
                    <a:pt x="1834" y="1073"/>
                  </a:cubicBezTo>
                  <a:cubicBezTo>
                    <a:pt x="1784" y="1089"/>
                    <a:pt x="1733" y="1097"/>
                    <a:pt x="1685" y="1097"/>
                  </a:cubicBezTo>
                  <a:cubicBezTo>
                    <a:pt x="1596" y="1097"/>
                    <a:pt x="1515" y="1071"/>
                    <a:pt x="1453" y="1025"/>
                  </a:cubicBezTo>
                  <a:lnTo>
                    <a:pt x="929" y="596"/>
                  </a:lnTo>
                  <a:lnTo>
                    <a:pt x="596" y="930"/>
                  </a:lnTo>
                  <a:lnTo>
                    <a:pt x="1025" y="1454"/>
                  </a:lnTo>
                  <a:cubicBezTo>
                    <a:pt x="1096" y="1573"/>
                    <a:pt x="1120" y="1716"/>
                    <a:pt x="1049" y="1835"/>
                  </a:cubicBezTo>
                  <a:cubicBezTo>
                    <a:pt x="1025" y="1906"/>
                    <a:pt x="1001" y="1978"/>
                    <a:pt x="977" y="2049"/>
                  </a:cubicBezTo>
                  <a:cubicBezTo>
                    <a:pt x="929" y="2168"/>
                    <a:pt x="810" y="2263"/>
                    <a:pt x="668" y="2287"/>
                  </a:cubicBezTo>
                  <a:lnTo>
                    <a:pt x="1" y="2359"/>
                  </a:lnTo>
                  <a:lnTo>
                    <a:pt x="1" y="2835"/>
                  </a:lnTo>
                  <a:lnTo>
                    <a:pt x="668" y="2906"/>
                  </a:lnTo>
                  <a:cubicBezTo>
                    <a:pt x="810" y="2906"/>
                    <a:pt x="929" y="3002"/>
                    <a:pt x="977" y="3144"/>
                  </a:cubicBezTo>
                  <a:cubicBezTo>
                    <a:pt x="1001" y="3216"/>
                    <a:pt x="1025" y="3287"/>
                    <a:pt x="1072" y="3359"/>
                  </a:cubicBezTo>
                  <a:cubicBezTo>
                    <a:pt x="1120" y="3478"/>
                    <a:pt x="1096" y="3621"/>
                    <a:pt x="1025" y="3716"/>
                  </a:cubicBezTo>
                  <a:lnTo>
                    <a:pt x="596" y="4240"/>
                  </a:lnTo>
                  <a:lnTo>
                    <a:pt x="929" y="4573"/>
                  </a:lnTo>
                  <a:lnTo>
                    <a:pt x="1453" y="4168"/>
                  </a:lnTo>
                  <a:cubicBezTo>
                    <a:pt x="1523" y="4113"/>
                    <a:pt x="1601" y="4090"/>
                    <a:pt x="1678" y="4090"/>
                  </a:cubicBezTo>
                  <a:cubicBezTo>
                    <a:pt x="1732" y="4090"/>
                    <a:pt x="1785" y="4101"/>
                    <a:pt x="1834" y="4121"/>
                  </a:cubicBezTo>
                  <a:cubicBezTo>
                    <a:pt x="1906" y="4145"/>
                    <a:pt x="1977" y="4192"/>
                    <a:pt x="2049" y="4216"/>
                  </a:cubicBezTo>
                  <a:cubicBezTo>
                    <a:pt x="2168" y="4264"/>
                    <a:pt x="2263" y="4359"/>
                    <a:pt x="2287" y="4502"/>
                  </a:cubicBezTo>
                  <a:lnTo>
                    <a:pt x="2358" y="5169"/>
                  </a:lnTo>
                  <a:lnTo>
                    <a:pt x="2835" y="5169"/>
                  </a:lnTo>
                  <a:lnTo>
                    <a:pt x="2906" y="4502"/>
                  </a:lnTo>
                  <a:cubicBezTo>
                    <a:pt x="2906" y="4359"/>
                    <a:pt x="3001" y="4264"/>
                    <a:pt x="3144" y="4216"/>
                  </a:cubicBezTo>
                  <a:cubicBezTo>
                    <a:pt x="3216" y="4192"/>
                    <a:pt x="3287" y="4145"/>
                    <a:pt x="3359" y="4121"/>
                  </a:cubicBezTo>
                  <a:cubicBezTo>
                    <a:pt x="3408" y="4091"/>
                    <a:pt x="3462" y="4078"/>
                    <a:pt x="3515" y="4078"/>
                  </a:cubicBezTo>
                  <a:cubicBezTo>
                    <a:pt x="3589" y="4078"/>
                    <a:pt x="3660" y="4103"/>
                    <a:pt x="3716" y="4145"/>
                  </a:cubicBezTo>
                  <a:lnTo>
                    <a:pt x="4240" y="4573"/>
                  </a:lnTo>
                  <a:lnTo>
                    <a:pt x="4573" y="4240"/>
                  </a:lnTo>
                  <a:lnTo>
                    <a:pt x="4168" y="3716"/>
                  </a:lnTo>
                  <a:cubicBezTo>
                    <a:pt x="4073" y="3621"/>
                    <a:pt x="4073" y="3454"/>
                    <a:pt x="4121" y="3335"/>
                  </a:cubicBezTo>
                  <a:cubicBezTo>
                    <a:pt x="4144" y="3264"/>
                    <a:pt x="4192" y="3192"/>
                    <a:pt x="4216" y="3121"/>
                  </a:cubicBezTo>
                  <a:cubicBezTo>
                    <a:pt x="4264" y="3002"/>
                    <a:pt x="4359" y="2906"/>
                    <a:pt x="4502" y="2906"/>
                  </a:cubicBezTo>
                  <a:lnTo>
                    <a:pt x="5168" y="2811"/>
                  </a:lnTo>
                  <a:lnTo>
                    <a:pt x="5168" y="2359"/>
                  </a:lnTo>
                  <a:lnTo>
                    <a:pt x="4502" y="2287"/>
                  </a:lnTo>
                  <a:cubicBezTo>
                    <a:pt x="4359" y="2263"/>
                    <a:pt x="4264" y="2168"/>
                    <a:pt x="4216" y="2049"/>
                  </a:cubicBezTo>
                  <a:cubicBezTo>
                    <a:pt x="4192" y="1978"/>
                    <a:pt x="4144" y="1882"/>
                    <a:pt x="4121" y="1835"/>
                  </a:cubicBezTo>
                  <a:cubicBezTo>
                    <a:pt x="4049" y="1692"/>
                    <a:pt x="4073" y="1549"/>
                    <a:pt x="4144" y="1454"/>
                  </a:cubicBezTo>
                  <a:lnTo>
                    <a:pt x="4573" y="930"/>
                  </a:lnTo>
                  <a:lnTo>
                    <a:pt x="4240" y="596"/>
                  </a:lnTo>
                  <a:lnTo>
                    <a:pt x="3716" y="1025"/>
                  </a:lnTo>
                  <a:cubicBezTo>
                    <a:pt x="3660" y="1066"/>
                    <a:pt x="3581" y="1092"/>
                    <a:pt x="3501" y="1092"/>
                  </a:cubicBezTo>
                  <a:cubicBezTo>
                    <a:pt x="3443" y="1092"/>
                    <a:pt x="3385" y="1079"/>
                    <a:pt x="3335" y="1049"/>
                  </a:cubicBezTo>
                  <a:cubicBezTo>
                    <a:pt x="3263" y="1025"/>
                    <a:pt x="3192" y="1001"/>
                    <a:pt x="3120" y="977"/>
                  </a:cubicBezTo>
                  <a:cubicBezTo>
                    <a:pt x="3001" y="930"/>
                    <a:pt x="2906" y="811"/>
                    <a:pt x="2906" y="668"/>
                  </a:cubicBezTo>
                  <a:lnTo>
                    <a:pt x="28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1"/>
            <p:cNvSpPr/>
            <p:nvPr/>
          </p:nvSpPr>
          <p:spPr>
            <a:xfrm>
              <a:off x="1243893" y="1323028"/>
              <a:ext cx="419390" cy="415372"/>
            </a:xfrm>
            <a:custGeom>
              <a:avLst/>
              <a:gdLst/>
              <a:ahLst/>
              <a:cxnLst/>
              <a:rect l="l" t="t" r="r" b="b"/>
              <a:pathLst>
                <a:path w="12004" h="11889" extrusionOk="0">
                  <a:moveTo>
                    <a:pt x="6502" y="2670"/>
                  </a:moveTo>
                  <a:cubicBezTo>
                    <a:pt x="6669" y="2670"/>
                    <a:pt x="6812" y="2813"/>
                    <a:pt x="6836" y="2980"/>
                  </a:cubicBezTo>
                  <a:lnTo>
                    <a:pt x="6907" y="3623"/>
                  </a:lnTo>
                  <a:lnTo>
                    <a:pt x="7407" y="3218"/>
                  </a:lnTo>
                  <a:cubicBezTo>
                    <a:pt x="7472" y="3164"/>
                    <a:pt x="7546" y="3140"/>
                    <a:pt x="7618" y="3140"/>
                  </a:cubicBezTo>
                  <a:cubicBezTo>
                    <a:pt x="7707" y="3140"/>
                    <a:pt x="7794" y="3176"/>
                    <a:pt x="7860" y="3242"/>
                  </a:cubicBezTo>
                  <a:lnTo>
                    <a:pt x="8646" y="4004"/>
                  </a:lnTo>
                  <a:cubicBezTo>
                    <a:pt x="8765" y="4147"/>
                    <a:pt x="8788" y="4337"/>
                    <a:pt x="8669" y="4480"/>
                  </a:cubicBezTo>
                  <a:lnTo>
                    <a:pt x="8265" y="4980"/>
                  </a:lnTo>
                  <a:lnTo>
                    <a:pt x="8908" y="5052"/>
                  </a:lnTo>
                  <a:cubicBezTo>
                    <a:pt x="9098" y="5076"/>
                    <a:pt x="9217" y="5218"/>
                    <a:pt x="9217" y="5409"/>
                  </a:cubicBezTo>
                  <a:lnTo>
                    <a:pt x="9217" y="6504"/>
                  </a:lnTo>
                  <a:cubicBezTo>
                    <a:pt x="9217" y="6671"/>
                    <a:pt x="9098" y="6814"/>
                    <a:pt x="8908" y="6838"/>
                  </a:cubicBezTo>
                  <a:lnTo>
                    <a:pt x="8288" y="6909"/>
                  </a:lnTo>
                  <a:lnTo>
                    <a:pt x="8669" y="7409"/>
                  </a:lnTo>
                  <a:cubicBezTo>
                    <a:pt x="8788" y="7552"/>
                    <a:pt x="8788" y="7743"/>
                    <a:pt x="8646" y="7862"/>
                  </a:cubicBezTo>
                  <a:lnTo>
                    <a:pt x="7883" y="8648"/>
                  </a:lnTo>
                  <a:cubicBezTo>
                    <a:pt x="7818" y="8713"/>
                    <a:pt x="7724" y="8750"/>
                    <a:pt x="7633" y="8750"/>
                  </a:cubicBezTo>
                  <a:cubicBezTo>
                    <a:pt x="7558" y="8750"/>
                    <a:pt x="7485" y="8725"/>
                    <a:pt x="7431" y="8672"/>
                  </a:cubicBezTo>
                  <a:lnTo>
                    <a:pt x="6907" y="8267"/>
                  </a:lnTo>
                  <a:lnTo>
                    <a:pt x="6836" y="8910"/>
                  </a:lnTo>
                  <a:cubicBezTo>
                    <a:pt x="6812" y="9076"/>
                    <a:pt x="6669" y="9219"/>
                    <a:pt x="6502" y="9219"/>
                  </a:cubicBezTo>
                  <a:lnTo>
                    <a:pt x="5407" y="9219"/>
                  </a:lnTo>
                  <a:cubicBezTo>
                    <a:pt x="5216" y="9219"/>
                    <a:pt x="5073" y="9076"/>
                    <a:pt x="5050" y="8910"/>
                  </a:cubicBezTo>
                  <a:lnTo>
                    <a:pt x="4978" y="8291"/>
                  </a:lnTo>
                  <a:lnTo>
                    <a:pt x="4502" y="8672"/>
                  </a:lnTo>
                  <a:cubicBezTo>
                    <a:pt x="4434" y="8728"/>
                    <a:pt x="4349" y="8758"/>
                    <a:pt x="4267" y="8758"/>
                  </a:cubicBezTo>
                  <a:cubicBezTo>
                    <a:pt x="4176" y="8758"/>
                    <a:pt x="4088" y="8722"/>
                    <a:pt x="4026" y="8648"/>
                  </a:cubicBezTo>
                  <a:lnTo>
                    <a:pt x="3263" y="7886"/>
                  </a:lnTo>
                  <a:cubicBezTo>
                    <a:pt x="3121" y="7767"/>
                    <a:pt x="3121" y="7552"/>
                    <a:pt x="3240" y="7409"/>
                  </a:cubicBezTo>
                  <a:lnTo>
                    <a:pt x="3621" y="6909"/>
                  </a:lnTo>
                  <a:lnTo>
                    <a:pt x="2978" y="6838"/>
                  </a:lnTo>
                  <a:cubicBezTo>
                    <a:pt x="2811" y="6814"/>
                    <a:pt x="2668" y="6671"/>
                    <a:pt x="2668" y="6504"/>
                  </a:cubicBezTo>
                  <a:lnTo>
                    <a:pt x="2668" y="5409"/>
                  </a:lnTo>
                  <a:cubicBezTo>
                    <a:pt x="2668" y="5218"/>
                    <a:pt x="2811" y="5076"/>
                    <a:pt x="2978" y="5052"/>
                  </a:cubicBezTo>
                  <a:lnTo>
                    <a:pt x="3621" y="4980"/>
                  </a:lnTo>
                  <a:lnTo>
                    <a:pt x="3216" y="4504"/>
                  </a:lnTo>
                  <a:cubicBezTo>
                    <a:pt x="3121" y="4361"/>
                    <a:pt x="3121" y="4147"/>
                    <a:pt x="3240" y="4028"/>
                  </a:cubicBezTo>
                  <a:lnTo>
                    <a:pt x="4026" y="3266"/>
                  </a:lnTo>
                  <a:cubicBezTo>
                    <a:pt x="4091" y="3187"/>
                    <a:pt x="4178" y="3152"/>
                    <a:pt x="4267" y="3152"/>
                  </a:cubicBezTo>
                  <a:cubicBezTo>
                    <a:pt x="4340" y="3152"/>
                    <a:pt x="4414" y="3175"/>
                    <a:pt x="4478" y="3218"/>
                  </a:cubicBezTo>
                  <a:lnTo>
                    <a:pt x="4978" y="3623"/>
                  </a:lnTo>
                  <a:lnTo>
                    <a:pt x="5050" y="2980"/>
                  </a:lnTo>
                  <a:cubicBezTo>
                    <a:pt x="5073" y="2813"/>
                    <a:pt x="5216" y="2670"/>
                    <a:pt x="5407" y="2670"/>
                  </a:cubicBezTo>
                  <a:close/>
                  <a:moveTo>
                    <a:pt x="4075" y="1"/>
                  </a:moveTo>
                  <a:cubicBezTo>
                    <a:pt x="3883" y="1"/>
                    <a:pt x="3740" y="138"/>
                    <a:pt x="3740" y="337"/>
                  </a:cubicBezTo>
                  <a:lnTo>
                    <a:pt x="3740" y="1551"/>
                  </a:lnTo>
                  <a:lnTo>
                    <a:pt x="2859" y="1551"/>
                  </a:lnTo>
                  <a:cubicBezTo>
                    <a:pt x="2763" y="1551"/>
                    <a:pt x="2668" y="1599"/>
                    <a:pt x="2620" y="1646"/>
                  </a:cubicBezTo>
                  <a:lnTo>
                    <a:pt x="1692" y="2599"/>
                  </a:lnTo>
                  <a:cubicBezTo>
                    <a:pt x="1620" y="2647"/>
                    <a:pt x="1573" y="2742"/>
                    <a:pt x="1573" y="2837"/>
                  </a:cubicBezTo>
                  <a:lnTo>
                    <a:pt x="1573" y="3742"/>
                  </a:lnTo>
                  <a:lnTo>
                    <a:pt x="382" y="3742"/>
                  </a:lnTo>
                  <a:cubicBezTo>
                    <a:pt x="191" y="3742"/>
                    <a:pt x="25" y="3861"/>
                    <a:pt x="25" y="4052"/>
                  </a:cubicBezTo>
                  <a:cubicBezTo>
                    <a:pt x="1" y="4266"/>
                    <a:pt x="168" y="4433"/>
                    <a:pt x="358" y="4433"/>
                  </a:cubicBezTo>
                  <a:lnTo>
                    <a:pt x="1573" y="4433"/>
                  </a:lnTo>
                  <a:lnTo>
                    <a:pt x="1573" y="5600"/>
                  </a:lnTo>
                  <a:lnTo>
                    <a:pt x="382" y="5600"/>
                  </a:lnTo>
                  <a:cubicBezTo>
                    <a:pt x="191" y="5600"/>
                    <a:pt x="25" y="5719"/>
                    <a:pt x="25" y="5909"/>
                  </a:cubicBezTo>
                  <a:cubicBezTo>
                    <a:pt x="1" y="6123"/>
                    <a:pt x="168" y="6290"/>
                    <a:pt x="358" y="6290"/>
                  </a:cubicBezTo>
                  <a:lnTo>
                    <a:pt x="1573" y="6290"/>
                  </a:lnTo>
                  <a:lnTo>
                    <a:pt x="1573" y="7457"/>
                  </a:lnTo>
                  <a:lnTo>
                    <a:pt x="382" y="7457"/>
                  </a:lnTo>
                  <a:cubicBezTo>
                    <a:pt x="191" y="7457"/>
                    <a:pt x="25" y="7576"/>
                    <a:pt x="25" y="7767"/>
                  </a:cubicBezTo>
                  <a:cubicBezTo>
                    <a:pt x="1" y="7981"/>
                    <a:pt x="168" y="8148"/>
                    <a:pt x="358" y="8148"/>
                  </a:cubicBezTo>
                  <a:lnTo>
                    <a:pt x="1573" y="8148"/>
                  </a:lnTo>
                  <a:lnTo>
                    <a:pt x="1573" y="9981"/>
                  </a:lnTo>
                  <a:cubicBezTo>
                    <a:pt x="1573" y="10172"/>
                    <a:pt x="1739" y="10315"/>
                    <a:pt x="1906" y="10315"/>
                  </a:cubicBezTo>
                  <a:lnTo>
                    <a:pt x="3740" y="10315"/>
                  </a:lnTo>
                  <a:lnTo>
                    <a:pt x="3740" y="11529"/>
                  </a:lnTo>
                  <a:cubicBezTo>
                    <a:pt x="3740" y="11696"/>
                    <a:pt x="3883" y="11863"/>
                    <a:pt x="4049" y="11886"/>
                  </a:cubicBezTo>
                  <a:cubicBezTo>
                    <a:pt x="4063" y="11888"/>
                    <a:pt x="4077" y="11889"/>
                    <a:pt x="4090" y="11889"/>
                  </a:cubicBezTo>
                  <a:cubicBezTo>
                    <a:pt x="4284" y="11889"/>
                    <a:pt x="4430" y="11730"/>
                    <a:pt x="4430" y="11529"/>
                  </a:cubicBezTo>
                  <a:lnTo>
                    <a:pt x="4430" y="10315"/>
                  </a:lnTo>
                  <a:lnTo>
                    <a:pt x="5597" y="10315"/>
                  </a:lnTo>
                  <a:lnTo>
                    <a:pt x="5597" y="11529"/>
                  </a:lnTo>
                  <a:cubicBezTo>
                    <a:pt x="5597" y="11696"/>
                    <a:pt x="5740" y="11863"/>
                    <a:pt x="5907" y="11886"/>
                  </a:cubicBezTo>
                  <a:cubicBezTo>
                    <a:pt x="5921" y="11888"/>
                    <a:pt x="5934" y="11889"/>
                    <a:pt x="5947" y="11889"/>
                  </a:cubicBezTo>
                  <a:cubicBezTo>
                    <a:pt x="6142" y="11889"/>
                    <a:pt x="6288" y="11730"/>
                    <a:pt x="6288" y="11529"/>
                  </a:cubicBezTo>
                  <a:lnTo>
                    <a:pt x="6288" y="10315"/>
                  </a:lnTo>
                  <a:lnTo>
                    <a:pt x="7455" y="10315"/>
                  </a:lnTo>
                  <a:lnTo>
                    <a:pt x="7455" y="11529"/>
                  </a:lnTo>
                  <a:cubicBezTo>
                    <a:pt x="7455" y="11696"/>
                    <a:pt x="7598" y="11863"/>
                    <a:pt x="7764" y="11886"/>
                  </a:cubicBezTo>
                  <a:cubicBezTo>
                    <a:pt x="7778" y="11888"/>
                    <a:pt x="7792" y="11889"/>
                    <a:pt x="7805" y="11889"/>
                  </a:cubicBezTo>
                  <a:cubicBezTo>
                    <a:pt x="7999" y="11889"/>
                    <a:pt x="8145" y="11730"/>
                    <a:pt x="8145" y="11529"/>
                  </a:cubicBezTo>
                  <a:lnTo>
                    <a:pt x="8145" y="10315"/>
                  </a:lnTo>
                  <a:lnTo>
                    <a:pt x="9979" y="10315"/>
                  </a:lnTo>
                  <a:cubicBezTo>
                    <a:pt x="10170" y="10315"/>
                    <a:pt x="10313" y="10172"/>
                    <a:pt x="10313" y="9981"/>
                  </a:cubicBezTo>
                  <a:lnTo>
                    <a:pt x="10313" y="8148"/>
                  </a:lnTo>
                  <a:lnTo>
                    <a:pt x="11527" y="8148"/>
                  </a:lnTo>
                  <a:cubicBezTo>
                    <a:pt x="11694" y="8148"/>
                    <a:pt x="11860" y="8029"/>
                    <a:pt x="11884" y="7838"/>
                  </a:cubicBezTo>
                  <a:cubicBezTo>
                    <a:pt x="11908" y="7624"/>
                    <a:pt x="11741" y="7457"/>
                    <a:pt x="11527" y="7457"/>
                  </a:cubicBezTo>
                  <a:lnTo>
                    <a:pt x="10313" y="7457"/>
                  </a:lnTo>
                  <a:lnTo>
                    <a:pt x="10313" y="6290"/>
                  </a:lnTo>
                  <a:lnTo>
                    <a:pt x="11527" y="6290"/>
                  </a:lnTo>
                  <a:cubicBezTo>
                    <a:pt x="11694" y="6290"/>
                    <a:pt x="11860" y="6171"/>
                    <a:pt x="11884" y="5981"/>
                  </a:cubicBezTo>
                  <a:cubicBezTo>
                    <a:pt x="11908" y="5766"/>
                    <a:pt x="11741" y="5600"/>
                    <a:pt x="11527" y="5600"/>
                  </a:cubicBezTo>
                  <a:lnTo>
                    <a:pt x="10313" y="5600"/>
                  </a:lnTo>
                  <a:lnTo>
                    <a:pt x="10313" y="4433"/>
                  </a:lnTo>
                  <a:lnTo>
                    <a:pt x="11575" y="4433"/>
                  </a:lnTo>
                  <a:cubicBezTo>
                    <a:pt x="11741" y="4433"/>
                    <a:pt x="11884" y="4337"/>
                    <a:pt x="11908" y="4194"/>
                  </a:cubicBezTo>
                  <a:cubicBezTo>
                    <a:pt x="12003" y="3956"/>
                    <a:pt x="11813" y="3718"/>
                    <a:pt x="11575" y="3718"/>
                  </a:cubicBezTo>
                  <a:lnTo>
                    <a:pt x="10313" y="3718"/>
                  </a:lnTo>
                  <a:lnTo>
                    <a:pt x="10313" y="1884"/>
                  </a:lnTo>
                  <a:cubicBezTo>
                    <a:pt x="10313" y="1718"/>
                    <a:pt x="10170" y="1551"/>
                    <a:pt x="9979" y="1551"/>
                  </a:cubicBezTo>
                  <a:lnTo>
                    <a:pt x="8145" y="1551"/>
                  </a:lnTo>
                  <a:lnTo>
                    <a:pt x="8145" y="337"/>
                  </a:lnTo>
                  <a:cubicBezTo>
                    <a:pt x="8145" y="170"/>
                    <a:pt x="8026" y="3"/>
                    <a:pt x="7836" y="3"/>
                  </a:cubicBezTo>
                  <a:cubicBezTo>
                    <a:pt x="7822" y="1"/>
                    <a:pt x="7808" y="1"/>
                    <a:pt x="7794" y="1"/>
                  </a:cubicBezTo>
                  <a:cubicBezTo>
                    <a:pt x="7619" y="1"/>
                    <a:pt x="7455" y="138"/>
                    <a:pt x="7455" y="337"/>
                  </a:cubicBezTo>
                  <a:lnTo>
                    <a:pt x="7455" y="1551"/>
                  </a:lnTo>
                  <a:lnTo>
                    <a:pt x="6288" y="1551"/>
                  </a:lnTo>
                  <a:lnTo>
                    <a:pt x="6288" y="337"/>
                  </a:lnTo>
                  <a:cubicBezTo>
                    <a:pt x="6288" y="170"/>
                    <a:pt x="6169" y="3"/>
                    <a:pt x="5978" y="3"/>
                  </a:cubicBezTo>
                  <a:cubicBezTo>
                    <a:pt x="5963" y="1"/>
                    <a:pt x="5947" y="1"/>
                    <a:pt x="5932" y="1"/>
                  </a:cubicBezTo>
                  <a:cubicBezTo>
                    <a:pt x="5741" y="1"/>
                    <a:pt x="5597" y="138"/>
                    <a:pt x="5597" y="337"/>
                  </a:cubicBezTo>
                  <a:lnTo>
                    <a:pt x="5597" y="1551"/>
                  </a:lnTo>
                  <a:lnTo>
                    <a:pt x="4430" y="1551"/>
                  </a:lnTo>
                  <a:lnTo>
                    <a:pt x="4430" y="337"/>
                  </a:lnTo>
                  <a:cubicBezTo>
                    <a:pt x="4430" y="170"/>
                    <a:pt x="4311" y="3"/>
                    <a:pt x="4121" y="3"/>
                  </a:cubicBezTo>
                  <a:cubicBezTo>
                    <a:pt x="4105" y="1"/>
                    <a:pt x="4090" y="1"/>
                    <a:pt x="4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46FEC62E-B07D-B553-B43D-2FB683974F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738462" y="4548582"/>
            <a:ext cx="685538" cy="685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377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RESUMO DOS CLIENTES</a:t>
            </a:r>
            <a:endParaRPr sz="2800" dirty="0"/>
          </a:p>
        </p:txBody>
      </p:sp>
      <p:sp>
        <p:nvSpPr>
          <p:cNvPr id="331" name="Google Shape;331;p42"/>
          <p:cNvSpPr txBox="1">
            <a:spLocks noGrp="1"/>
          </p:cNvSpPr>
          <p:nvPr>
            <p:ph type="subTitle" idx="5"/>
          </p:nvPr>
        </p:nvSpPr>
        <p:spPr>
          <a:xfrm>
            <a:off x="699658" y="916880"/>
            <a:ext cx="648173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CLIENTES QUE ADQUIRIRAM ALGUMA DAS CAMPANHAS</a:t>
            </a:r>
            <a:endParaRPr sz="1600" dirty="0"/>
          </a:p>
        </p:txBody>
      </p:sp>
      <p:grpSp>
        <p:nvGrpSpPr>
          <p:cNvPr id="364" name="Google Shape;364;p42"/>
          <p:cNvGrpSpPr/>
          <p:nvPr/>
        </p:nvGrpSpPr>
        <p:grpSpPr>
          <a:xfrm>
            <a:off x="483324" y="1029608"/>
            <a:ext cx="262940" cy="414988"/>
            <a:chOff x="3417984" y="1323028"/>
            <a:chExt cx="262940" cy="414988"/>
          </a:xfrm>
        </p:grpSpPr>
        <p:sp>
          <p:nvSpPr>
            <p:cNvPr id="365" name="Google Shape;365;p42"/>
            <p:cNvSpPr/>
            <p:nvPr/>
          </p:nvSpPr>
          <p:spPr>
            <a:xfrm>
              <a:off x="3586033" y="1323028"/>
              <a:ext cx="25015" cy="92549"/>
            </a:xfrm>
            <a:custGeom>
              <a:avLst/>
              <a:gdLst/>
              <a:ahLst/>
              <a:cxnLst/>
              <a:rect l="l" t="t" r="r" b="b"/>
              <a:pathLst>
                <a:path w="716" h="2649" extrusionOk="0">
                  <a:moveTo>
                    <a:pt x="364" y="1"/>
                  </a:moveTo>
                  <a:cubicBezTo>
                    <a:pt x="167" y="1"/>
                    <a:pt x="1" y="158"/>
                    <a:pt x="1" y="337"/>
                  </a:cubicBezTo>
                  <a:lnTo>
                    <a:pt x="1" y="2289"/>
                  </a:lnTo>
                  <a:cubicBezTo>
                    <a:pt x="1" y="2490"/>
                    <a:pt x="168" y="2649"/>
                    <a:pt x="365" y="2649"/>
                  </a:cubicBezTo>
                  <a:cubicBezTo>
                    <a:pt x="378" y="2649"/>
                    <a:pt x="392" y="2648"/>
                    <a:pt x="406" y="2647"/>
                  </a:cubicBezTo>
                  <a:cubicBezTo>
                    <a:pt x="572" y="2623"/>
                    <a:pt x="715" y="2456"/>
                    <a:pt x="715" y="2289"/>
                  </a:cubicBezTo>
                  <a:lnTo>
                    <a:pt x="715" y="360"/>
                  </a:lnTo>
                  <a:cubicBezTo>
                    <a:pt x="715" y="170"/>
                    <a:pt x="572" y="27"/>
                    <a:pt x="406" y="3"/>
                  </a:cubicBezTo>
                  <a:cubicBezTo>
                    <a:pt x="392" y="2"/>
                    <a:pt x="378" y="1"/>
                    <a:pt x="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2"/>
            <p:cNvSpPr/>
            <p:nvPr/>
          </p:nvSpPr>
          <p:spPr>
            <a:xfrm>
              <a:off x="3488697" y="1323028"/>
              <a:ext cx="24980" cy="92549"/>
            </a:xfrm>
            <a:custGeom>
              <a:avLst/>
              <a:gdLst/>
              <a:ahLst/>
              <a:cxnLst/>
              <a:rect l="l" t="t" r="r" b="b"/>
              <a:pathLst>
                <a:path w="715" h="2649" extrusionOk="0">
                  <a:moveTo>
                    <a:pt x="364" y="1"/>
                  </a:moveTo>
                  <a:cubicBezTo>
                    <a:pt x="167" y="1"/>
                    <a:pt x="0" y="158"/>
                    <a:pt x="0" y="337"/>
                  </a:cubicBezTo>
                  <a:lnTo>
                    <a:pt x="0" y="2289"/>
                  </a:lnTo>
                  <a:cubicBezTo>
                    <a:pt x="0" y="2490"/>
                    <a:pt x="167" y="2649"/>
                    <a:pt x="364" y="2649"/>
                  </a:cubicBezTo>
                  <a:cubicBezTo>
                    <a:pt x="378" y="2649"/>
                    <a:pt x="391" y="2648"/>
                    <a:pt x="405" y="2647"/>
                  </a:cubicBezTo>
                  <a:cubicBezTo>
                    <a:pt x="572" y="2623"/>
                    <a:pt x="715" y="2456"/>
                    <a:pt x="715" y="2289"/>
                  </a:cubicBezTo>
                  <a:lnTo>
                    <a:pt x="715" y="360"/>
                  </a:lnTo>
                  <a:cubicBezTo>
                    <a:pt x="715" y="170"/>
                    <a:pt x="572" y="27"/>
                    <a:pt x="405" y="3"/>
                  </a:cubicBezTo>
                  <a:cubicBezTo>
                    <a:pt x="391" y="2"/>
                    <a:pt x="378" y="1"/>
                    <a:pt x="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2"/>
            <p:cNvSpPr/>
            <p:nvPr/>
          </p:nvSpPr>
          <p:spPr>
            <a:xfrm>
              <a:off x="3537785" y="1323028"/>
              <a:ext cx="24177" cy="43462"/>
            </a:xfrm>
            <a:custGeom>
              <a:avLst/>
              <a:gdLst/>
              <a:ahLst/>
              <a:cxnLst/>
              <a:rect l="l" t="t" r="r" b="b"/>
              <a:pathLst>
                <a:path w="692" h="1244" extrusionOk="0">
                  <a:moveTo>
                    <a:pt x="341" y="1"/>
                  </a:moveTo>
                  <a:cubicBezTo>
                    <a:pt x="146" y="1"/>
                    <a:pt x="0" y="158"/>
                    <a:pt x="0" y="337"/>
                  </a:cubicBezTo>
                  <a:lnTo>
                    <a:pt x="0" y="884"/>
                  </a:lnTo>
                  <a:cubicBezTo>
                    <a:pt x="0" y="1075"/>
                    <a:pt x="143" y="1218"/>
                    <a:pt x="310" y="1241"/>
                  </a:cubicBezTo>
                  <a:cubicBezTo>
                    <a:pt x="324" y="1243"/>
                    <a:pt x="337" y="1244"/>
                    <a:pt x="351" y="1244"/>
                  </a:cubicBezTo>
                  <a:cubicBezTo>
                    <a:pt x="545" y="1244"/>
                    <a:pt x="691" y="1086"/>
                    <a:pt x="691" y="908"/>
                  </a:cubicBezTo>
                  <a:lnTo>
                    <a:pt x="691" y="360"/>
                  </a:lnTo>
                  <a:cubicBezTo>
                    <a:pt x="691" y="170"/>
                    <a:pt x="572" y="3"/>
                    <a:pt x="381" y="3"/>
                  </a:cubicBezTo>
                  <a:cubicBezTo>
                    <a:pt x="368" y="2"/>
                    <a:pt x="354" y="1"/>
                    <a:pt x="3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2"/>
            <p:cNvSpPr/>
            <p:nvPr/>
          </p:nvSpPr>
          <p:spPr>
            <a:xfrm>
              <a:off x="3537785" y="1390528"/>
              <a:ext cx="24177" cy="24980"/>
            </a:xfrm>
            <a:custGeom>
              <a:avLst/>
              <a:gdLst/>
              <a:ahLst/>
              <a:cxnLst/>
              <a:rect l="l" t="t" r="r" b="b"/>
              <a:pathLst>
                <a:path w="692" h="715" extrusionOk="0">
                  <a:moveTo>
                    <a:pt x="334" y="0"/>
                  </a:moveTo>
                  <a:cubicBezTo>
                    <a:pt x="143" y="0"/>
                    <a:pt x="0" y="167"/>
                    <a:pt x="0" y="357"/>
                  </a:cubicBezTo>
                  <a:cubicBezTo>
                    <a:pt x="0" y="548"/>
                    <a:pt x="143" y="715"/>
                    <a:pt x="334" y="715"/>
                  </a:cubicBezTo>
                  <a:cubicBezTo>
                    <a:pt x="524" y="715"/>
                    <a:pt x="691" y="548"/>
                    <a:pt x="691" y="357"/>
                  </a:cubicBezTo>
                  <a:cubicBezTo>
                    <a:pt x="691" y="167"/>
                    <a:pt x="524" y="0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2"/>
            <p:cNvSpPr/>
            <p:nvPr/>
          </p:nvSpPr>
          <p:spPr>
            <a:xfrm>
              <a:off x="3427137" y="1524478"/>
              <a:ext cx="243794" cy="213538"/>
            </a:xfrm>
            <a:custGeom>
              <a:avLst/>
              <a:gdLst/>
              <a:ahLst/>
              <a:cxnLst/>
              <a:rect l="l" t="t" r="r" b="b"/>
              <a:pathLst>
                <a:path w="6978" h="6112" extrusionOk="0">
                  <a:moveTo>
                    <a:pt x="0" y="0"/>
                  </a:moveTo>
                  <a:lnTo>
                    <a:pt x="2453" y="2929"/>
                  </a:lnTo>
                  <a:lnTo>
                    <a:pt x="2453" y="5763"/>
                  </a:lnTo>
                  <a:cubicBezTo>
                    <a:pt x="2453" y="5966"/>
                    <a:pt x="2610" y="6112"/>
                    <a:pt x="2792" y="6112"/>
                  </a:cubicBezTo>
                  <a:cubicBezTo>
                    <a:pt x="2845" y="6112"/>
                    <a:pt x="2899" y="6100"/>
                    <a:pt x="2953" y="6073"/>
                  </a:cubicBezTo>
                  <a:cubicBezTo>
                    <a:pt x="3620" y="5739"/>
                    <a:pt x="3263" y="5906"/>
                    <a:pt x="4334" y="5382"/>
                  </a:cubicBezTo>
                  <a:cubicBezTo>
                    <a:pt x="4453" y="5311"/>
                    <a:pt x="4549" y="5192"/>
                    <a:pt x="4549" y="5073"/>
                  </a:cubicBezTo>
                  <a:lnTo>
                    <a:pt x="4549" y="2929"/>
                  </a:lnTo>
                  <a:lnTo>
                    <a:pt x="69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3417984" y="1447930"/>
              <a:ext cx="262940" cy="52441"/>
            </a:xfrm>
            <a:custGeom>
              <a:avLst/>
              <a:gdLst/>
              <a:ahLst/>
              <a:cxnLst/>
              <a:rect l="l" t="t" r="r" b="b"/>
              <a:pathLst>
                <a:path w="7526" h="1501" extrusionOk="0">
                  <a:moveTo>
                    <a:pt x="334" y="0"/>
                  </a:moveTo>
                  <a:cubicBezTo>
                    <a:pt x="143" y="0"/>
                    <a:pt x="0" y="167"/>
                    <a:pt x="0" y="357"/>
                  </a:cubicBezTo>
                  <a:lnTo>
                    <a:pt x="0" y="1501"/>
                  </a:lnTo>
                  <a:lnTo>
                    <a:pt x="7526" y="1501"/>
                  </a:lnTo>
                  <a:lnTo>
                    <a:pt x="7526" y="357"/>
                  </a:lnTo>
                  <a:cubicBezTo>
                    <a:pt x="7526" y="167"/>
                    <a:pt x="7383" y="0"/>
                    <a:pt x="7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377;p43">
            <a:extLst>
              <a:ext uri="{FF2B5EF4-FFF2-40B4-BE49-F238E27FC236}">
                <a16:creationId xmlns:a16="http://schemas.microsoft.com/office/drawing/2014/main" id="{1BDDC711-D0C8-FDD7-664A-7A50A687742F}"/>
              </a:ext>
            </a:extLst>
          </p:cNvPr>
          <p:cNvSpPr txBox="1">
            <a:spLocks/>
          </p:cNvSpPr>
          <p:nvPr/>
        </p:nvSpPr>
        <p:spPr>
          <a:xfrm>
            <a:off x="614794" y="1349830"/>
            <a:ext cx="8216972" cy="3354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52400" indent="0" algn="l"/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Socioeconômicos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tx1"/>
                </a:solidFill>
                <a:latin typeface="Söhne"/>
              </a:rPr>
              <a:t>Ano Nascimento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Ano médio de nascimento desses clientes é aproximadamente 1968 (indicando que a maioria tem em torno de 56 anos –avaliando com 2023), apresentando grande disparidade entre o ano mínimo de nascimento e o máximo.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Educação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Concentração no nível de Graduação, ficando a maioria entre nível básico e graduação.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Estado Civil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Maior parte é casada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Renda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A renda média é de cerca de 65.256 reais, apresentando grande disparidade entre o valor mínimo e máximo da renda.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Filhos em Casa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Na média não chega a 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Adolescentes em Casa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Na média não chega a 1.</a:t>
            </a:r>
          </a:p>
          <a:p>
            <a:pPr marL="152400" indent="0" algn="l"/>
            <a:endParaRPr lang="pt-BR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152400" indent="0" algn="l"/>
            <a:r>
              <a:rPr lang="pt-BR" b="1" dirty="0">
                <a:solidFill>
                  <a:schemeClr val="tx1"/>
                </a:solidFill>
                <a:latin typeface="Söhne"/>
              </a:rPr>
              <a:t>Hábitos de Consumo</a:t>
            </a:r>
            <a:endParaRPr lang="pt-BR" b="1" i="0" dirty="0">
              <a:solidFill>
                <a:schemeClr val="tx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Gastos com Vinhos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Em média, gastam cerca de 611 reais em vinhos.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Gastos com Carnes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Em média, gastam aproximadamente 291 reais em produtos de carne.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Compras Online e em Lojas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Realizam em média cerca de 7 compras em lojas e 5 compras online 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Visitas ao Site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Visitam o site da empresa em média cerca de 5 vezes por mês.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chemeClr val="tx1"/>
                </a:solidFill>
                <a:effectLst/>
                <a:latin typeface="Söhne"/>
              </a:rPr>
              <a:t>Aderiram à Campanha 5</a:t>
            </a:r>
            <a:r>
              <a:rPr lang="pt-BR" b="0" i="0" dirty="0">
                <a:solidFill>
                  <a:schemeClr val="tx1"/>
                </a:solidFill>
                <a:effectLst/>
                <a:latin typeface="Söhne"/>
              </a:rPr>
              <a:t>: Cerca de 40,6% (188 clientes) aderiram à última campanha.</a:t>
            </a:r>
          </a:p>
          <a:p>
            <a:pPr marL="152400" indent="0" algn="l"/>
            <a:endParaRPr lang="pt-BR" b="0" i="0" dirty="0">
              <a:solidFill>
                <a:schemeClr val="tx1"/>
              </a:solidFill>
              <a:effectLst/>
              <a:latin typeface="Söhne"/>
            </a:endParaRPr>
          </a:p>
          <a:p>
            <a:pPr marL="0" indent="0" algn="l"/>
            <a:endParaRPr lang="en-US" sz="1000" dirty="0">
              <a:latin typeface="Marcellus"/>
              <a:sym typeface="Marcellus"/>
            </a:endParaRP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3C5BE290-F700-DAA4-0A4F-2873111431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738462" y="4548582"/>
            <a:ext cx="685538" cy="685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"/>
          <p:cNvSpPr txBox="1">
            <a:spLocks noGrp="1"/>
          </p:cNvSpPr>
          <p:nvPr>
            <p:ph type="subTitle" idx="1"/>
          </p:nvPr>
        </p:nvSpPr>
        <p:spPr>
          <a:xfrm>
            <a:off x="1142845" y="637309"/>
            <a:ext cx="6200064" cy="40455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A variável Estado Civil, agrupei o que classifiquei como casado/união estável (casado/juntos), solteiros (viuvo(a), solteiro, sozinho, divorciado) e outros (demais opções que não se encaixavam em nenhum desses.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As variáveis de crianças/adolescentes em casa, desconsiderei por não chegar na média 1.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A variável Data de Cadastro considerei irrelevante para determinar a propensão, assim como a variável de Reclamação (ter alguma reclamação não necessariamente está ligada as campanhas, podem ser fatos pontuais com alguma compra/loja).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A partir disso, optei por um modelo de regressão logística com os clientes que aderiram à alguma das 5 campanhas, selecionei as variáveis Ano de Nascimento, Renda, Estado Civil, Gastos de Compras e locais de compra (online/físico), e Dias desde a Última Compra.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 Com o resultado do modelo de regressão logística, verifiquei dos clientes que não aderiram a nenhuma das campanhas anteriores, quais seriam propensos a aderir a futura campanha.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Por fim, juntei os clientes marcados como propensos e os clientes que já haviam aderido a alguma das campanhas, chegando a 544 clientes propensos a aderir a campanha futura.</a:t>
            </a:r>
            <a:endParaRPr dirty="0"/>
          </a:p>
        </p:txBody>
      </p:sp>
      <p:sp>
        <p:nvSpPr>
          <p:cNvPr id="402" name="Google Shape;402;p43"/>
          <p:cNvSpPr/>
          <p:nvPr/>
        </p:nvSpPr>
        <p:spPr>
          <a:xfrm>
            <a:off x="8430775" y="-125"/>
            <a:ext cx="713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Imagem 17" descr="Logotipo&#10;&#10;Descrição gerada automaticamente">
            <a:extLst>
              <a:ext uri="{FF2B5EF4-FFF2-40B4-BE49-F238E27FC236}">
                <a16:creationId xmlns:a16="http://schemas.microsoft.com/office/drawing/2014/main" id="{3530D6F1-0C48-0F73-FD34-A055812791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738462" y="4548582"/>
            <a:ext cx="685538" cy="685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52"/>
          <p:cNvGrpSpPr/>
          <p:nvPr/>
        </p:nvGrpSpPr>
        <p:grpSpPr>
          <a:xfrm>
            <a:off x="4371130" y="1504207"/>
            <a:ext cx="3432984" cy="2496295"/>
            <a:chOff x="331763" y="414153"/>
            <a:chExt cx="6903246" cy="5019697"/>
          </a:xfrm>
        </p:grpSpPr>
        <p:sp>
          <p:nvSpPr>
            <p:cNvPr id="555" name="Google Shape;555;p52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2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2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52"/>
          <p:cNvSpPr txBox="1">
            <a:spLocks noGrp="1"/>
          </p:cNvSpPr>
          <p:nvPr>
            <p:ph type="title"/>
          </p:nvPr>
        </p:nvSpPr>
        <p:spPr>
          <a:xfrm>
            <a:off x="669648" y="1101607"/>
            <a:ext cx="2558700" cy="8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RESULTADOS</a:t>
            </a:r>
            <a:endParaRPr dirty="0"/>
          </a:p>
        </p:txBody>
      </p:sp>
      <p:pic>
        <p:nvPicPr>
          <p:cNvPr id="4" name="Google Shape;896;p67">
            <a:hlinkClick r:id="rId3"/>
            <a:extLst>
              <a:ext uri="{FF2B5EF4-FFF2-40B4-BE49-F238E27FC236}">
                <a16:creationId xmlns:a16="http://schemas.microsoft.com/office/drawing/2014/main" id="{2EBA6E4A-266F-72D8-D552-A1028BDA65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863" t="10203"/>
          <a:stretch/>
        </p:blipFill>
        <p:spPr>
          <a:xfrm>
            <a:off x="4505720" y="1686313"/>
            <a:ext cx="3011515" cy="1961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5E2EDCC4-1FB3-7E1C-B9BF-792FE1CC07C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7738462" y="4548582"/>
            <a:ext cx="685538" cy="685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528;p51">
            <a:extLst>
              <a:ext uri="{FF2B5EF4-FFF2-40B4-BE49-F238E27FC236}">
                <a16:creationId xmlns:a16="http://schemas.microsoft.com/office/drawing/2014/main" id="{90655B4B-86E5-53BE-15D6-ABEB8961B110}"/>
              </a:ext>
            </a:extLst>
          </p:cNvPr>
          <p:cNvSpPr/>
          <p:nvPr/>
        </p:nvSpPr>
        <p:spPr>
          <a:xfrm>
            <a:off x="576443" y="2138625"/>
            <a:ext cx="864960" cy="854176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60"/>
          <p:cNvSpPr txBox="1">
            <a:spLocks noGrp="1"/>
          </p:cNvSpPr>
          <p:nvPr>
            <p:ph type="title"/>
          </p:nvPr>
        </p:nvSpPr>
        <p:spPr>
          <a:xfrm>
            <a:off x="698910" y="408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AVALIANDO O MODELO</a:t>
            </a:r>
            <a:endParaRPr sz="2800" dirty="0"/>
          </a:p>
        </p:txBody>
      </p:sp>
      <p:sp>
        <p:nvSpPr>
          <p:cNvPr id="5" name="Google Shape;519;p51">
            <a:extLst>
              <a:ext uri="{FF2B5EF4-FFF2-40B4-BE49-F238E27FC236}">
                <a16:creationId xmlns:a16="http://schemas.microsoft.com/office/drawing/2014/main" id="{60CA8724-2F19-5277-0326-AA74678551CC}"/>
              </a:ext>
            </a:extLst>
          </p:cNvPr>
          <p:cNvSpPr txBox="1">
            <a:spLocks/>
          </p:cNvSpPr>
          <p:nvPr/>
        </p:nvSpPr>
        <p:spPr>
          <a:xfrm>
            <a:off x="-63837" y="2986585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b="1" dirty="0"/>
              <a:t>ACURÁCIA</a:t>
            </a:r>
          </a:p>
        </p:txBody>
      </p:sp>
      <p:sp>
        <p:nvSpPr>
          <p:cNvPr id="6" name="Google Shape;529;p51">
            <a:extLst>
              <a:ext uri="{FF2B5EF4-FFF2-40B4-BE49-F238E27FC236}">
                <a16:creationId xmlns:a16="http://schemas.microsoft.com/office/drawing/2014/main" id="{CB3B96C0-E2B1-2CE8-EB1E-D40D84B08F73}"/>
              </a:ext>
            </a:extLst>
          </p:cNvPr>
          <p:cNvSpPr/>
          <p:nvPr/>
        </p:nvSpPr>
        <p:spPr>
          <a:xfrm>
            <a:off x="576443" y="2142895"/>
            <a:ext cx="864960" cy="857710"/>
          </a:xfrm>
          <a:prstGeom prst="arc">
            <a:avLst>
              <a:gd name="adj1" fmla="val 16200000"/>
              <a:gd name="adj2" fmla="val 12487275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523;p51">
            <a:extLst>
              <a:ext uri="{FF2B5EF4-FFF2-40B4-BE49-F238E27FC236}">
                <a16:creationId xmlns:a16="http://schemas.microsoft.com/office/drawing/2014/main" id="{8CC67DF1-CF85-6C3B-782E-B796F3408173}"/>
              </a:ext>
            </a:extLst>
          </p:cNvPr>
          <p:cNvSpPr txBox="1">
            <a:spLocks/>
          </p:cNvSpPr>
          <p:nvPr/>
        </p:nvSpPr>
        <p:spPr>
          <a:xfrm>
            <a:off x="398373" y="1607542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 b="0" i="0" u="none" strike="noStrike" cap="non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" dirty="0"/>
              <a:t>85,4%</a:t>
            </a:r>
          </a:p>
        </p:txBody>
      </p:sp>
      <p:sp>
        <p:nvSpPr>
          <p:cNvPr id="15" name="Google Shape;519;p51">
            <a:extLst>
              <a:ext uri="{FF2B5EF4-FFF2-40B4-BE49-F238E27FC236}">
                <a16:creationId xmlns:a16="http://schemas.microsoft.com/office/drawing/2014/main" id="{BF9F6A0B-FD7A-1500-0444-C096A3175317}"/>
              </a:ext>
            </a:extLst>
          </p:cNvPr>
          <p:cNvSpPr txBox="1">
            <a:spLocks/>
          </p:cNvSpPr>
          <p:nvPr/>
        </p:nvSpPr>
        <p:spPr>
          <a:xfrm>
            <a:off x="1708782" y="1179831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dirty="0"/>
              <a:t>PROPENSOS</a:t>
            </a:r>
          </a:p>
        </p:txBody>
      </p:sp>
      <p:sp>
        <p:nvSpPr>
          <p:cNvPr id="16" name="Google Shape;528;p51">
            <a:extLst>
              <a:ext uri="{FF2B5EF4-FFF2-40B4-BE49-F238E27FC236}">
                <a16:creationId xmlns:a16="http://schemas.microsoft.com/office/drawing/2014/main" id="{DD983DB0-BCE9-A277-CBC9-F837948DB46D}"/>
              </a:ext>
            </a:extLst>
          </p:cNvPr>
          <p:cNvSpPr/>
          <p:nvPr/>
        </p:nvSpPr>
        <p:spPr>
          <a:xfrm>
            <a:off x="3614603" y="1055181"/>
            <a:ext cx="756701" cy="74015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529;p51">
            <a:extLst>
              <a:ext uri="{FF2B5EF4-FFF2-40B4-BE49-F238E27FC236}">
                <a16:creationId xmlns:a16="http://schemas.microsoft.com/office/drawing/2014/main" id="{C8A6DB3C-8E2C-653C-0E3C-556F20D8EC51}"/>
              </a:ext>
            </a:extLst>
          </p:cNvPr>
          <p:cNvSpPr/>
          <p:nvPr/>
        </p:nvSpPr>
        <p:spPr>
          <a:xfrm>
            <a:off x="3614603" y="1059451"/>
            <a:ext cx="756701" cy="743212"/>
          </a:xfrm>
          <a:prstGeom prst="arc">
            <a:avLst>
              <a:gd name="adj1" fmla="val 16200000"/>
              <a:gd name="adj2" fmla="val 10737438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067;p69">
            <a:extLst>
              <a:ext uri="{FF2B5EF4-FFF2-40B4-BE49-F238E27FC236}">
                <a16:creationId xmlns:a16="http://schemas.microsoft.com/office/drawing/2014/main" id="{6B83BE2F-7C12-A69C-3A05-385CC3E8339D}"/>
              </a:ext>
            </a:extLst>
          </p:cNvPr>
          <p:cNvGrpSpPr/>
          <p:nvPr/>
        </p:nvGrpSpPr>
        <p:grpSpPr>
          <a:xfrm>
            <a:off x="3840518" y="1286379"/>
            <a:ext cx="304870" cy="277753"/>
            <a:chOff x="4717589" y="3953962"/>
            <a:chExt cx="416874" cy="386688"/>
          </a:xfrm>
        </p:grpSpPr>
        <p:sp>
          <p:nvSpPr>
            <p:cNvPr id="19" name="Google Shape;1068;p69">
              <a:extLst>
                <a:ext uri="{FF2B5EF4-FFF2-40B4-BE49-F238E27FC236}">
                  <a16:creationId xmlns:a16="http://schemas.microsoft.com/office/drawing/2014/main" id="{49BB326C-E588-CB93-5AB8-5EC7FCDD07B6}"/>
                </a:ext>
              </a:extLst>
            </p:cNvPr>
            <p:cNvSpPr/>
            <p:nvPr/>
          </p:nvSpPr>
          <p:spPr>
            <a:xfrm>
              <a:off x="4954884" y="4163377"/>
              <a:ext cx="179579" cy="177273"/>
            </a:xfrm>
            <a:custGeom>
              <a:avLst/>
              <a:gdLst/>
              <a:ahLst/>
              <a:cxnLst/>
              <a:rect l="l" t="t" r="r" b="b"/>
              <a:pathLst>
                <a:path w="5140" h="5074" extrusionOk="0">
                  <a:moveTo>
                    <a:pt x="381" y="1"/>
                  </a:moveTo>
                  <a:cubicBezTo>
                    <a:pt x="171" y="1"/>
                    <a:pt x="0" y="197"/>
                    <a:pt x="43" y="412"/>
                  </a:cubicBezTo>
                  <a:lnTo>
                    <a:pt x="1234" y="4770"/>
                  </a:lnTo>
                  <a:cubicBezTo>
                    <a:pt x="1274" y="4932"/>
                    <a:pt x="1407" y="5018"/>
                    <a:pt x="1540" y="5018"/>
                  </a:cubicBezTo>
                  <a:cubicBezTo>
                    <a:pt x="1642" y="5018"/>
                    <a:pt x="1744" y="4968"/>
                    <a:pt x="1805" y="4865"/>
                  </a:cubicBezTo>
                  <a:lnTo>
                    <a:pt x="2305" y="4008"/>
                  </a:lnTo>
                  <a:lnTo>
                    <a:pt x="3282" y="4985"/>
                  </a:lnTo>
                  <a:cubicBezTo>
                    <a:pt x="3341" y="5044"/>
                    <a:pt x="3419" y="5074"/>
                    <a:pt x="3499" y="5074"/>
                  </a:cubicBezTo>
                  <a:cubicBezTo>
                    <a:pt x="3580" y="5074"/>
                    <a:pt x="3663" y="5044"/>
                    <a:pt x="3734" y="4985"/>
                  </a:cubicBezTo>
                  <a:lnTo>
                    <a:pt x="4997" y="3699"/>
                  </a:lnTo>
                  <a:cubicBezTo>
                    <a:pt x="5139" y="3556"/>
                    <a:pt x="5139" y="3365"/>
                    <a:pt x="4997" y="3246"/>
                  </a:cubicBezTo>
                  <a:lnTo>
                    <a:pt x="4044" y="2270"/>
                  </a:lnTo>
                  <a:lnTo>
                    <a:pt x="4901" y="1770"/>
                  </a:lnTo>
                  <a:cubicBezTo>
                    <a:pt x="5139" y="1627"/>
                    <a:pt x="5092" y="1270"/>
                    <a:pt x="4806" y="1198"/>
                  </a:cubicBezTo>
                  <a:lnTo>
                    <a:pt x="448" y="7"/>
                  </a:lnTo>
                  <a:cubicBezTo>
                    <a:pt x="425" y="3"/>
                    <a:pt x="403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9;p69">
              <a:extLst>
                <a:ext uri="{FF2B5EF4-FFF2-40B4-BE49-F238E27FC236}">
                  <a16:creationId xmlns:a16="http://schemas.microsoft.com/office/drawing/2014/main" id="{AF6CB4BC-26FD-FD80-296A-253C9FC36FBC}"/>
                </a:ext>
              </a:extLst>
            </p:cNvPr>
            <p:cNvSpPr/>
            <p:nvPr/>
          </p:nvSpPr>
          <p:spPr>
            <a:xfrm>
              <a:off x="4790818" y="4119531"/>
              <a:ext cx="62433" cy="24980"/>
            </a:xfrm>
            <a:custGeom>
              <a:avLst/>
              <a:gdLst/>
              <a:ahLst/>
              <a:cxnLst/>
              <a:rect l="l" t="t" r="r" b="b"/>
              <a:pathLst>
                <a:path w="1787" h="715" extrusionOk="0">
                  <a:moveTo>
                    <a:pt x="381" y="0"/>
                  </a:moveTo>
                  <a:cubicBezTo>
                    <a:pt x="214" y="0"/>
                    <a:pt x="48" y="143"/>
                    <a:pt x="24" y="310"/>
                  </a:cubicBezTo>
                  <a:cubicBezTo>
                    <a:pt x="0" y="524"/>
                    <a:pt x="167" y="715"/>
                    <a:pt x="381" y="715"/>
                  </a:cubicBezTo>
                  <a:lnTo>
                    <a:pt x="1405" y="715"/>
                  </a:lnTo>
                  <a:cubicBezTo>
                    <a:pt x="1619" y="715"/>
                    <a:pt x="1786" y="524"/>
                    <a:pt x="1762" y="310"/>
                  </a:cubicBezTo>
                  <a:cubicBezTo>
                    <a:pt x="1738" y="143"/>
                    <a:pt x="1596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70;p69">
              <a:extLst>
                <a:ext uri="{FF2B5EF4-FFF2-40B4-BE49-F238E27FC236}">
                  <a16:creationId xmlns:a16="http://schemas.microsoft.com/office/drawing/2014/main" id="{59B2FA74-226E-EABB-4ACB-F68603BEE504}"/>
                </a:ext>
              </a:extLst>
            </p:cNvPr>
            <p:cNvSpPr/>
            <p:nvPr/>
          </p:nvSpPr>
          <p:spPr>
            <a:xfrm>
              <a:off x="4825755" y="4180671"/>
              <a:ext cx="52441" cy="49961"/>
            </a:xfrm>
            <a:custGeom>
              <a:avLst/>
              <a:gdLst/>
              <a:ahLst/>
              <a:cxnLst/>
              <a:rect l="l" t="t" r="r" b="b"/>
              <a:pathLst>
                <a:path w="1501" h="1430" extrusionOk="0">
                  <a:moveTo>
                    <a:pt x="1131" y="1"/>
                  </a:moveTo>
                  <a:cubicBezTo>
                    <a:pt x="1042" y="1"/>
                    <a:pt x="953" y="36"/>
                    <a:pt x="881" y="108"/>
                  </a:cubicBezTo>
                  <a:lnTo>
                    <a:pt x="143" y="846"/>
                  </a:lnTo>
                  <a:cubicBezTo>
                    <a:pt x="0" y="965"/>
                    <a:pt x="0" y="1203"/>
                    <a:pt x="143" y="1322"/>
                  </a:cubicBezTo>
                  <a:cubicBezTo>
                    <a:pt x="215" y="1394"/>
                    <a:pt x="304" y="1429"/>
                    <a:pt x="393" y="1429"/>
                  </a:cubicBezTo>
                  <a:cubicBezTo>
                    <a:pt x="482" y="1429"/>
                    <a:pt x="572" y="1394"/>
                    <a:pt x="643" y="1322"/>
                  </a:cubicBezTo>
                  <a:lnTo>
                    <a:pt x="1381" y="584"/>
                  </a:lnTo>
                  <a:cubicBezTo>
                    <a:pt x="1501" y="465"/>
                    <a:pt x="1501" y="227"/>
                    <a:pt x="1381" y="108"/>
                  </a:cubicBezTo>
                  <a:cubicBezTo>
                    <a:pt x="1310" y="36"/>
                    <a:pt x="1221" y="1"/>
                    <a:pt x="1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71;p69">
              <a:extLst>
                <a:ext uri="{FF2B5EF4-FFF2-40B4-BE49-F238E27FC236}">
                  <a16:creationId xmlns:a16="http://schemas.microsoft.com/office/drawing/2014/main" id="{65AFC821-3C06-3EBC-E41C-EDCE5024F9AE}"/>
                </a:ext>
              </a:extLst>
            </p:cNvPr>
            <p:cNvSpPr/>
            <p:nvPr/>
          </p:nvSpPr>
          <p:spPr>
            <a:xfrm>
              <a:off x="4717589" y="3953962"/>
              <a:ext cx="415197" cy="227164"/>
            </a:xfrm>
            <a:custGeom>
              <a:avLst/>
              <a:gdLst/>
              <a:ahLst/>
              <a:cxnLst/>
              <a:rect l="l" t="t" r="r" b="b"/>
              <a:pathLst>
                <a:path w="11884" h="6502" extrusionOk="0">
                  <a:moveTo>
                    <a:pt x="1405" y="0"/>
                  </a:moveTo>
                  <a:cubicBezTo>
                    <a:pt x="620" y="0"/>
                    <a:pt x="0" y="619"/>
                    <a:pt x="0" y="1405"/>
                  </a:cubicBezTo>
                  <a:cubicBezTo>
                    <a:pt x="0" y="2167"/>
                    <a:pt x="643" y="2786"/>
                    <a:pt x="1405" y="2786"/>
                  </a:cubicBezTo>
                  <a:cubicBezTo>
                    <a:pt x="1715" y="2786"/>
                    <a:pt x="2001" y="2691"/>
                    <a:pt x="2215" y="2524"/>
                  </a:cubicBezTo>
                  <a:lnTo>
                    <a:pt x="4692" y="4525"/>
                  </a:lnTo>
                  <a:cubicBezTo>
                    <a:pt x="4597" y="4692"/>
                    <a:pt x="4549" y="4906"/>
                    <a:pt x="4549" y="5096"/>
                  </a:cubicBezTo>
                  <a:cubicBezTo>
                    <a:pt x="4549" y="5882"/>
                    <a:pt x="5192" y="6501"/>
                    <a:pt x="5954" y="6501"/>
                  </a:cubicBezTo>
                  <a:cubicBezTo>
                    <a:pt x="6716" y="6501"/>
                    <a:pt x="7335" y="5882"/>
                    <a:pt x="7335" y="5096"/>
                  </a:cubicBezTo>
                  <a:cubicBezTo>
                    <a:pt x="7335" y="4906"/>
                    <a:pt x="7288" y="4692"/>
                    <a:pt x="7216" y="4525"/>
                  </a:cubicBezTo>
                  <a:lnTo>
                    <a:pt x="9669" y="2524"/>
                  </a:lnTo>
                  <a:cubicBezTo>
                    <a:pt x="9907" y="2691"/>
                    <a:pt x="10193" y="2786"/>
                    <a:pt x="10503" y="2786"/>
                  </a:cubicBezTo>
                  <a:cubicBezTo>
                    <a:pt x="11265" y="2786"/>
                    <a:pt x="11884" y="2167"/>
                    <a:pt x="11884" y="1405"/>
                  </a:cubicBezTo>
                  <a:cubicBezTo>
                    <a:pt x="11884" y="619"/>
                    <a:pt x="11265" y="0"/>
                    <a:pt x="10503" y="0"/>
                  </a:cubicBezTo>
                  <a:cubicBezTo>
                    <a:pt x="9740" y="0"/>
                    <a:pt x="9097" y="619"/>
                    <a:pt x="9097" y="1405"/>
                  </a:cubicBezTo>
                  <a:cubicBezTo>
                    <a:pt x="9097" y="1596"/>
                    <a:pt x="9145" y="1810"/>
                    <a:pt x="9240" y="1977"/>
                  </a:cubicBezTo>
                  <a:lnTo>
                    <a:pt x="6764" y="3977"/>
                  </a:lnTo>
                  <a:cubicBezTo>
                    <a:pt x="6526" y="3799"/>
                    <a:pt x="6240" y="3709"/>
                    <a:pt x="5951" y="3709"/>
                  </a:cubicBezTo>
                  <a:cubicBezTo>
                    <a:pt x="5662" y="3709"/>
                    <a:pt x="5371" y="3799"/>
                    <a:pt x="5120" y="3977"/>
                  </a:cubicBezTo>
                  <a:lnTo>
                    <a:pt x="2668" y="1977"/>
                  </a:lnTo>
                  <a:cubicBezTo>
                    <a:pt x="2739" y="1810"/>
                    <a:pt x="2787" y="1596"/>
                    <a:pt x="2787" y="1405"/>
                  </a:cubicBezTo>
                  <a:cubicBezTo>
                    <a:pt x="2787" y="619"/>
                    <a:pt x="2167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72;p69">
              <a:extLst>
                <a:ext uri="{FF2B5EF4-FFF2-40B4-BE49-F238E27FC236}">
                  <a16:creationId xmlns:a16="http://schemas.microsoft.com/office/drawing/2014/main" id="{2951725A-F68D-788F-9DC8-AD701760239D}"/>
                </a:ext>
              </a:extLst>
            </p:cNvPr>
            <p:cNvSpPr/>
            <p:nvPr/>
          </p:nvSpPr>
          <p:spPr>
            <a:xfrm>
              <a:off x="4913099" y="4205232"/>
              <a:ext cx="24177" cy="60756"/>
            </a:xfrm>
            <a:custGeom>
              <a:avLst/>
              <a:gdLst/>
              <a:ahLst/>
              <a:cxnLst/>
              <a:rect l="l" t="t" r="r" b="b"/>
              <a:pathLst>
                <a:path w="692" h="1739" extrusionOk="0">
                  <a:moveTo>
                    <a:pt x="358" y="0"/>
                  </a:moveTo>
                  <a:cubicBezTo>
                    <a:pt x="167" y="0"/>
                    <a:pt x="1" y="167"/>
                    <a:pt x="1" y="357"/>
                  </a:cubicBezTo>
                  <a:lnTo>
                    <a:pt x="1" y="1381"/>
                  </a:lnTo>
                  <a:cubicBezTo>
                    <a:pt x="1" y="1596"/>
                    <a:pt x="167" y="1739"/>
                    <a:pt x="358" y="1739"/>
                  </a:cubicBezTo>
                  <a:cubicBezTo>
                    <a:pt x="549" y="1739"/>
                    <a:pt x="691" y="1596"/>
                    <a:pt x="691" y="1381"/>
                  </a:cubicBezTo>
                  <a:lnTo>
                    <a:pt x="691" y="357"/>
                  </a:lnTo>
                  <a:cubicBezTo>
                    <a:pt x="691" y="167"/>
                    <a:pt x="549" y="0"/>
                    <a:pt x="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523;p51">
            <a:extLst>
              <a:ext uri="{FF2B5EF4-FFF2-40B4-BE49-F238E27FC236}">
                <a16:creationId xmlns:a16="http://schemas.microsoft.com/office/drawing/2014/main" id="{F530F1A1-52E2-FB31-FA78-D26CAE2D92CF}"/>
              </a:ext>
            </a:extLst>
          </p:cNvPr>
          <p:cNvSpPr txBox="1">
            <a:spLocks/>
          </p:cNvSpPr>
          <p:nvPr/>
        </p:nvSpPr>
        <p:spPr>
          <a:xfrm>
            <a:off x="3314608" y="673696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 b="0" i="0" u="none" strike="noStrike" cap="non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" sz="2000" dirty="0"/>
              <a:t>74%</a:t>
            </a:r>
          </a:p>
        </p:txBody>
      </p:sp>
      <p:sp>
        <p:nvSpPr>
          <p:cNvPr id="25" name="Google Shape;519;p51">
            <a:extLst>
              <a:ext uri="{FF2B5EF4-FFF2-40B4-BE49-F238E27FC236}">
                <a16:creationId xmlns:a16="http://schemas.microsoft.com/office/drawing/2014/main" id="{59296AEE-80D2-F8F1-D381-C0D336275070}"/>
              </a:ext>
            </a:extLst>
          </p:cNvPr>
          <p:cNvSpPr txBox="1">
            <a:spLocks/>
          </p:cNvSpPr>
          <p:nvPr/>
        </p:nvSpPr>
        <p:spPr>
          <a:xfrm>
            <a:off x="2905739" y="1791060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b="1" dirty="0"/>
              <a:t>PRECISÃO</a:t>
            </a:r>
          </a:p>
        </p:txBody>
      </p:sp>
      <p:sp>
        <p:nvSpPr>
          <p:cNvPr id="26" name="Google Shape;528;p51">
            <a:extLst>
              <a:ext uri="{FF2B5EF4-FFF2-40B4-BE49-F238E27FC236}">
                <a16:creationId xmlns:a16="http://schemas.microsoft.com/office/drawing/2014/main" id="{F963EECB-C182-2227-DEEA-AFC67EB71E8D}"/>
              </a:ext>
            </a:extLst>
          </p:cNvPr>
          <p:cNvSpPr/>
          <p:nvPr/>
        </p:nvSpPr>
        <p:spPr>
          <a:xfrm>
            <a:off x="5289776" y="1096788"/>
            <a:ext cx="756701" cy="74015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529;p51">
            <a:extLst>
              <a:ext uri="{FF2B5EF4-FFF2-40B4-BE49-F238E27FC236}">
                <a16:creationId xmlns:a16="http://schemas.microsoft.com/office/drawing/2014/main" id="{0F35296C-0C89-DED8-495A-38F6CF4D2F50}"/>
              </a:ext>
            </a:extLst>
          </p:cNvPr>
          <p:cNvSpPr/>
          <p:nvPr/>
        </p:nvSpPr>
        <p:spPr>
          <a:xfrm>
            <a:off x="5289776" y="1101058"/>
            <a:ext cx="756701" cy="743212"/>
          </a:xfrm>
          <a:prstGeom prst="arc">
            <a:avLst>
              <a:gd name="adj1" fmla="val 16200000"/>
              <a:gd name="adj2" fmla="val 2448182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528;p51">
            <a:extLst>
              <a:ext uri="{FF2B5EF4-FFF2-40B4-BE49-F238E27FC236}">
                <a16:creationId xmlns:a16="http://schemas.microsoft.com/office/drawing/2014/main" id="{FDC39C08-4B7F-CF21-0AAF-1D7394390546}"/>
              </a:ext>
            </a:extLst>
          </p:cNvPr>
          <p:cNvSpPr/>
          <p:nvPr/>
        </p:nvSpPr>
        <p:spPr>
          <a:xfrm>
            <a:off x="7154181" y="1099247"/>
            <a:ext cx="756701" cy="74015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529;p51">
            <a:extLst>
              <a:ext uri="{FF2B5EF4-FFF2-40B4-BE49-F238E27FC236}">
                <a16:creationId xmlns:a16="http://schemas.microsoft.com/office/drawing/2014/main" id="{C317286F-6267-CA95-9726-C82F418E5DC2}"/>
              </a:ext>
            </a:extLst>
          </p:cNvPr>
          <p:cNvSpPr/>
          <p:nvPr/>
        </p:nvSpPr>
        <p:spPr>
          <a:xfrm>
            <a:off x="7154181" y="1103517"/>
            <a:ext cx="756701" cy="743212"/>
          </a:xfrm>
          <a:prstGeom prst="arc">
            <a:avLst>
              <a:gd name="adj1" fmla="val 16200000"/>
              <a:gd name="adj2" fmla="val 4427355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528;p51">
            <a:extLst>
              <a:ext uri="{FF2B5EF4-FFF2-40B4-BE49-F238E27FC236}">
                <a16:creationId xmlns:a16="http://schemas.microsoft.com/office/drawing/2014/main" id="{7E042A6C-2094-F9D5-D8E4-7093AFA7F0E8}"/>
              </a:ext>
            </a:extLst>
          </p:cNvPr>
          <p:cNvSpPr/>
          <p:nvPr/>
        </p:nvSpPr>
        <p:spPr>
          <a:xfrm>
            <a:off x="3688950" y="3244213"/>
            <a:ext cx="756701" cy="74015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529;p51">
            <a:extLst>
              <a:ext uri="{FF2B5EF4-FFF2-40B4-BE49-F238E27FC236}">
                <a16:creationId xmlns:a16="http://schemas.microsoft.com/office/drawing/2014/main" id="{C5468FAC-D24E-2415-2EDA-64E0FBBCE97C}"/>
              </a:ext>
            </a:extLst>
          </p:cNvPr>
          <p:cNvSpPr/>
          <p:nvPr/>
        </p:nvSpPr>
        <p:spPr>
          <a:xfrm>
            <a:off x="3688950" y="3248483"/>
            <a:ext cx="756701" cy="743212"/>
          </a:xfrm>
          <a:prstGeom prst="arc">
            <a:avLst>
              <a:gd name="adj1" fmla="val 16200000"/>
              <a:gd name="adj2" fmla="val 13284219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1067;p69">
            <a:extLst>
              <a:ext uri="{FF2B5EF4-FFF2-40B4-BE49-F238E27FC236}">
                <a16:creationId xmlns:a16="http://schemas.microsoft.com/office/drawing/2014/main" id="{D86A3E61-E6ED-6AB4-8198-8A3F15B97806}"/>
              </a:ext>
            </a:extLst>
          </p:cNvPr>
          <p:cNvGrpSpPr/>
          <p:nvPr/>
        </p:nvGrpSpPr>
        <p:grpSpPr>
          <a:xfrm>
            <a:off x="3914865" y="3475411"/>
            <a:ext cx="304870" cy="277753"/>
            <a:chOff x="4717589" y="3953962"/>
            <a:chExt cx="416874" cy="386688"/>
          </a:xfrm>
        </p:grpSpPr>
        <p:sp>
          <p:nvSpPr>
            <p:cNvPr id="45" name="Google Shape;1068;p69">
              <a:extLst>
                <a:ext uri="{FF2B5EF4-FFF2-40B4-BE49-F238E27FC236}">
                  <a16:creationId xmlns:a16="http://schemas.microsoft.com/office/drawing/2014/main" id="{BC2A8415-7FC1-96F5-9EC9-1ADE03085A5C}"/>
                </a:ext>
              </a:extLst>
            </p:cNvPr>
            <p:cNvSpPr/>
            <p:nvPr/>
          </p:nvSpPr>
          <p:spPr>
            <a:xfrm>
              <a:off x="4954884" y="4163377"/>
              <a:ext cx="179579" cy="177273"/>
            </a:xfrm>
            <a:custGeom>
              <a:avLst/>
              <a:gdLst/>
              <a:ahLst/>
              <a:cxnLst/>
              <a:rect l="l" t="t" r="r" b="b"/>
              <a:pathLst>
                <a:path w="5140" h="5074" extrusionOk="0">
                  <a:moveTo>
                    <a:pt x="381" y="1"/>
                  </a:moveTo>
                  <a:cubicBezTo>
                    <a:pt x="171" y="1"/>
                    <a:pt x="0" y="197"/>
                    <a:pt x="43" y="412"/>
                  </a:cubicBezTo>
                  <a:lnTo>
                    <a:pt x="1234" y="4770"/>
                  </a:lnTo>
                  <a:cubicBezTo>
                    <a:pt x="1274" y="4932"/>
                    <a:pt x="1407" y="5018"/>
                    <a:pt x="1540" y="5018"/>
                  </a:cubicBezTo>
                  <a:cubicBezTo>
                    <a:pt x="1642" y="5018"/>
                    <a:pt x="1744" y="4968"/>
                    <a:pt x="1805" y="4865"/>
                  </a:cubicBezTo>
                  <a:lnTo>
                    <a:pt x="2305" y="4008"/>
                  </a:lnTo>
                  <a:lnTo>
                    <a:pt x="3282" y="4985"/>
                  </a:lnTo>
                  <a:cubicBezTo>
                    <a:pt x="3341" y="5044"/>
                    <a:pt x="3419" y="5074"/>
                    <a:pt x="3499" y="5074"/>
                  </a:cubicBezTo>
                  <a:cubicBezTo>
                    <a:pt x="3580" y="5074"/>
                    <a:pt x="3663" y="5044"/>
                    <a:pt x="3734" y="4985"/>
                  </a:cubicBezTo>
                  <a:lnTo>
                    <a:pt x="4997" y="3699"/>
                  </a:lnTo>
                  <a:cubicBezTo>
                    <a:pt x="5139" y="3556"/>
                    <a:pt x="5139" y="3365"/>
                    <a:pt x="4997" y="3246"/>
                  </a:cubicBezTo>
                  <a:lnTo>
                    <a:pt x="4044" y="2270"/>
                  </a:lnTo>
                  <a:lnTo>
                    <a:pt x="4901" y="1770"/>
                  </a:lnTo>
                  <a:cubicBezTo>
                    <a:pt x="5139" y="1627"/>
                    <a:pt x="5092" y="1270"/>
                    <a:pt x="4806" y="1198"/>
                  </a:cubicBezTo>
                  <a:lnTo>
                    <a:pt x="448" y="7"/>
                  </a:lnTo>
                  <a:cubicBezTo>
                    <a:pt x="425" y="3"/>
                    <a:pt x="403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9;p69">
              <a:extLst>
                <a:ext uri="{FF2B5EF4-FFF2-40B4-BE49-F238E27FC236}">
                  <a16:creationId xmlns:a16="http://schemas.microsoft.com/office/drawing/2014/main" id="{C9C0EDD6-B74A-4B37-A206-D51A3FC4304E}"/>
                </a:ext>
              </a:extLst>
            </p:cNvPr>
            <p:cNvSpPr/>
            <p:nvPr/>
          </p:nvSpPr>
          <p:spPr>
            <a:xfrm>
              <a:off x="4790818" y="4119531"/>
              <a:ext cx="62433" cy="24980"/>
            </a:xfrm>
            <a:custGeom>
              <a:avLst/>
              <a:gdLst/>
              <a:ahLst/>
              <a:cxnLst/>
              <a:rect l="l" t="t" r="r" b="b"/>
              <a:pathLst>
                <a:path w="1787" h="715" extrusionOk="0">
                  <a:moveTo>
                    <a:pt x="381" y="0"/>
                  </a:moveTo>
                  <a:cubicBezTo>
                    <a:pt x="214" y="0"/>
                    <a:pt x="48" y="143"/>
                    <a:pt x="24" y="310"/>
                  </a:cubicBezTo>
                  <a:cubicBezTo>
                    <a:pt x="0" y="524"/>
                    <a:pt x="167" y="715"/>
                    <a:pt x="381" y="715"/>
                  </a:cubicBezTo>
                  <a:lnTo>
                    <a:pt x="1405" y="715"/>
                  </a:lnTo>
                  <a:cubicBezTo>
                    <a:pt x="1619" y="715"/>
                    <a:pt x="1786" y="524"/>
                    <a:pt x="1762" y="310"/>
                  </a:cubicBezTo>
                  <a:cubicBezTo>
                    <a:pt x="1738" y="143"/>
                    <a:pt x="1596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70;p69">
              <a:extLst>
                <a:ext uri="{FF2B5EF4-FFF2-40B4-BE49-F238E27FC236}">
                  <a16:creationId xmlns:a16="http://schemas.microsoft.com/office/drawing/2014/main" id="{545BC20B-4FE1-10B9-8BF9-F10DB8722B2E}"/>
                </a:ext>
              </a:extLst>
            </p:cNvPr>
            <p:cNvSpPr/>
            <p:nvPr/>
          </p:nvSpPr>
          <p:spPr>
            <a:xfrm>
              <a:off x="4825755" y="4180671"/>
              <a:ext cx="52441" cy="49961"/>
            </a:xfrm>
            <a:custGeom>
              <a:avLst/>
              <a:gdLst/>
              <a:ahLst/>
              <a:cxnLst/>
              <a:rect l="l" t="t" r="r" b="b"/>
              <a:pathLst>
                <a:path w="1501" h="1430" extrusionOk="0">
                  <a:moveTo>
                    <a:pt x="1131" y="1"/>
                  </a:moveTo>
                  <a:cubicBezTo>
                    <a:pt x="1042" y="1"/>
                    <a:pt x="953" y="36"/>
                    <a:pt x="881" y="108"/>
                  </a:cubicBezTo>
                  <a:lnTo>
                    <a:pt x="143" y="846"/>
                  </a:lnTo>
                  <a:cubicBezTo>
                    <a:pt x="0" y="965"/>
                    <a:pt x="0" y="1203"/>
                    <a:pt x="143" y="1322"/>
                  </a:cubicBezTo>
                  <a:cubicBezTo>
                    <a:pt x="215" y="1394"/>
                    <a:pt x="304" y="1429"/>
                    <a:pt x="393" y="1429"/>
                  </a:cubicBezTo>
                  <a:cubicBezTo>
                    <a:pt x="482" y="1429"/>
                    <a:pt x="572" y="1394"/>
                    <a:pt x="643" y="1322"/>
                  </a:cubicBezTo>
                  <a:lnTo>
                    <a:pt x="1381" y="584"/>
                  </a:lnTo>
                  <a:cubicBezTo>
                    <a:pt x="1501" y="465"/>
                    <a:pt x="1501" y="227"/>
                    <a:pt x="1381" y="108"/>
                  </a:cubicBezTo>
                  <a:cubicBezTo>
                    <a:pt x="1310" y="36"/>
                    <a:pt x="1221" y="1"/>
                    <a:pt x="1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71;p69">
              <a:extLst>
                <a:ext uri="{FF2B5EF4-FFF2-40B4-BE49-F238E27FC236}">
                  <a16:creationId xmlns:a16="http://schemas.microsoft.com/office/drawing/2014/main" id="{A88DA730-2902-E538-F7D1-04B4EDD14B0E}"/>
                </a:ext>
              </a:extLst>
            </p:cNvPr>
            <p:cNvSpPr/>
            <p:nvPr/>
          </p:nvSpPr>
          <p:spPr>
            <a:xfrm>
              <a:off x="4717589" y="3953962"/>
              <a:ext cx="415197" cy="227164"/>
            </a:xfrm>
            <a:custGeom>
              <a:avLst/>
              <a:gdLst/>
              <a:ahLst/>
              <a:cxnLst/>
              <a:rect l="l" t="t" r="r" b="b"/>
              <a:pathLst>
                <a:path w="11884" h="6502" extrusionOk="0">
                  <a:moveTo>
                    <a:pt x="1405" y="0"/>
                  </a:moveTo>
                  <a:cubicBezTo>
                    <a:pt x="620" y="0"/>
                    <a:pt x="0" y="619"/>
                    <a:pt x="0" y="1405"/>
                  </a:cubicBezTo>
                  <a:cubicBezTo>
                    <a:pt x="0" y="2167"/>
                    <a:pt x="643" y="2786"/>
                    <a:pt x="1405" y="2786"/>
                  </a:cubicBezTo>
                  <a:cubicBezTo>
                    <a:pt x="1715" y="2786"/>
                    <a:pt x="2001" y="2691"/>
                    <a:pt x="2215" y="2524"/>
                  </a:cubicBezTo>
                  <a:lnTo>
                    <a:pt x="4692" y="4525"/>
                  </a:lnTo>
                  <a:cubicBezTo>
                    <a:pt x="4597" y="4692"/>
                    <a:pt x="4549" y="4906"/>
                    <a:pt x="4549" y="5096"/>
                  </a:cubicBezTo>
                  <a:cubicBezTo>
                    <a:pt x="4549" y="5882"/>
                    <a:pt x="5192" y="6501"/>
                    <a:pt x="5954" y="6501"/>
                  </a:cubicBezTo>
                  <a:cubicBezTo>
                    <a:pt x="6716" y="6501"/>
                    <a:pt x="7335" y="5882"/>
                    <a:pt x="7335" y="5096"/>
                  </a:cubicBezTo>
                  <a:cubicBezTo>
                    <a:pt x="7335" y="4906"/>
                    <a:pt x="7288" y="4692"/>
                    <a:pt x="7216" y="4525"/>
                  </a:cubicBezTo>
                  <a:lnTo>
                    <a:pt x="9669" y="2524"/>
                  </a:lnTo>
                  <a:cubicBezTo>
                    <a:pt x="9907" y="2691"/>
                    <a:pt x="10193" y="2786"/>
                    <a:pt x="10503" y="2786"/>
                  </a:cubicBezTo>
                  <a:cubicBezTo>
                    <a:pt x="11265" y="2786"/>
                    <a:pt x="11884" y="2167"/>
                    <a:pt x="11884" y="1405"/>
                  </a:cubicBezTo>
                  <a:cubicBezTo>
                    <a:pt x="11884" y="619"/>
                    <a:pt x="11265" y="0"/>
                    <a:pt x="10503" y="0"/>
                  </a:cubicBezTo>
                  <a:cubicBezTo>
                    <a:pt x="9740" y="0"/>
                    <a:pt x="9097" y="619"/>
                    <a:pt x="9097" y="1405"/>
                  </a:cubicBezTo>
                  <a:cubicBezTo>
                    <a:pt x="9097" y="1596"/>
                    <a:pt x="9145" y="1810"/>
                    <a:pt x="9240" y="1977"/>
                  </a:cubicBezTo>
                  <a:lnTo>
                    <a:pt x="6764" y="3977"/>
                  </a:lnTo>
                  <a:cubicBezTo>
                    <a:pt x="6526" y="3799"/>
                    <a:pt x="6240" y="3709"/>
                    <a:pt x="5951" y="3709"/>
                  </a:cubicBezTo>
                  <a:cubicBezTo>
                    <a:pt x="5662" y="3709"/>
                    <a:pt x="5371" y="3799"/>
                    <a:pt x="5120" y="3977"/>
                  </a:cubicBezTo>
                  <a:lnTo>
                    <a:pt x="2668" y="1977"/>
                  </a:lnTo>
                  <a:cubicBezTo>
                    <a:pt x="2739" y="1810"/>
                    <a:pt x="2787" y="1596"/>
                    <a:pt x="2787" y="1405"/>
                  </a:cubicBezTo>
                  <a:cubicBezTo>
                    <a:pt x="2787" y="619"/>
                    <a:pt x="2167" y="0"/>
                    <a:pt x="1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72;p69">
              <a:extLst>
                <a:ext uri="{FF2B5EF4-FFF2-40B4-BE49-F238E27FC236}">
                  <a16:creationId xmlns:a16="http://schemas.microsoft.com/office/drawing/2014/main" id="{6130B68B-13E5-4BB6-D2F1-D6D41B77A1A3}"/>
                </a:ext>
              </a:extLst>
            </p:cNvPr>
            <p:cNvSpPr/>
            <p:nvPr/>
          </p:nvSpPr>
          <p:spPr>
            <a:xfrm>
              <a:off x="4913099" y="4205232"/>
              <a:ext cx="24177" cy="60756"/>
            </a:xfrm>
            <a:custGeom>
              <a:avLst/>
              <a:gdLst/>
              <a:ahLst/>
              <a:cxnLst/>
              <a:rect l="l" t="t" r="r" b="b"/>
              <a:pathLst>
                <a:path w="692" h="1739" extrusionOk="0">
                  <a:moveTo>
                    <a:pt x="358" y="0"/>
                  </a:moveTo>
                  <a:cubicBezTo>
                    <a:pt x="167" y="0"/>
                    <a:pt x="1" y="167"/>
                    <a:pt x="1" y="357"/>
                  </a:cubicBezTo>
                  <a:lnTo>
                    <a:pt x="1" y="1381"/>
                  </a:lnTo>
                  <a:cubicBezTo>
                    <a:pt x="1" y="1596"/>
                    <a:pt x="167" y="1739"/>
                    <a:pt x="358" y="1739"/>
                  </a:cubicBezTo>
                  <a:cubicBezTo>
                    <a:pt x="549" y="1739"/>
                    <a:pt x="691" y="1596"/>
                    <a:pt x="691" y="1381"/>
                  </a:cubicBezTo>
                  <a:lnTo>
                    <a:pt x="691" y="357"/>
                  </a:lnTo>
                  <a:cubicBezTo>
                    <a:pt x="691" y="167"/>
                    <a:pt x="549" y="0"/>
                    <a:pt x="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28;p51">
            <a:extLst>
              <a:ext uri="{FF2B5EF4-FFF2-40B4-BE49-F238E27FC236}">
                <a16:creationId xmlns:a16="http://schemas.microsoft.com/office/drawing/2014/main" id="{72FA0659-A7DE-2530-A73B-988718A9E9FD}"/>
              </a:ext>
            </a:extLst>
          </p:cNvPr>
          <p:cNvSpPr/>
          <p:nvPr/>
        </p:nvSpPr>
        <p:spPr>
          <a:xfrm>
            <a:off x="5283418" y="3218124"/>
            <a:ext cx="756701" cy="74015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29;p51">
            <a:extLst>
              <a:ext uri="{FF2B5EF4-FFF2-40B4-BE49-F238E27FC236}">
                <a16:creationId xmlns:a16="http://schemas.microsoft.com/office/drawing/2014/main" id="{EAC974B7-4A3D-E8C1-4A02-33B24AA8589E}"/>
              </a:ext>
            </a:extLst>
          </p:cNvPr>
          <p:cNvSpPr/>
          <p:nvPr/>
        </p:nvSpPr>
        <p:spPr>
          <a:xfrm>
            <a:off x="5283418" y="3222394"/>
            <a:ext cx="756701" cy="743212"/>
          </a:xfrm>
          <a:prstGeom prst="arc">
            <a:avLst>
              <a:gd name="adj1" fmla="val 16200000"/>
              <a:gd name="adj2" fmla="val 14615317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523;p51">
            <a:extLst>
              <a:ext uri="{FF2B5EF4-FFF2-40B4-BE49-F238E27FC236}">
                <a16:creationId xmlns:a16="http://schemas.microsoft.com/office/drawing/2014/main" id="{9F1555C9-B129-7CAC-7A97-F73A01444836}"/>
              </a:ext>
            </a:extLst>
          </p:cNvPr>
          <p:cNvSpPr txBox="1">
            <a:spLocks/>
          </p:cNvSpPr>
          <p:nvPr/>
        </p:nvSpPr>
        <p:spPr>
          <a:xfrm>
            <a:off x="4989781" y="666338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 b="0" i="0" u="none" strike="noStrike" cap="non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" sz="2000" dirty="0"/>
              <a:t>36%</a:t>
            </a:r>
          </a:p>
        </p:txBody>
      </p:sp>
      <p:sp>
        <p:nvSpPr>
          <p:cNvPr id="707" name="Google Shape;519;p51">
            <a:extLst>
              <a:ext uri="{FF2B5EF4-FFF2-40B4-BE49-F238E27FC236}">
                <a16:creationId xmlns:a16="http://schemas.microsoft.com/office/drawing/2014/main" id="{C165A3DA-1B8D-794D-7088-963E0331915E}"/>
              </a:ext>
            </a:extLst>
          </p:cNvPr>
          <p:cNvSpPr txBox="1">
            <a:spLocks/>
          </p:cNvSpPr>
          <p:nvPr/>
        </p:nvSpPr>
        <p:spPr>
          <a:xfrm>
            <a:off x="4602631" y="1794142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b="1" dirty="0"/>
              <a:t>RECALL</a:t>
            </a:r>
          </a:p>
        </p:txBody>
      </p:sp>
      <p:sp>
        <p:nvSpPr>
          <p:cNvPr id="708" name="Google Shape;523;p51">
            <a:extLst>
              <a:ext uri="{FF2B5EF4-FFF2-40B4-BE49-F238E27FC236}">
                <a16:creationId xmlns:a16="http://schemas.microsoft.com/office/drawing/2014/main" id="{83FD1D63-EECF-20DC-9E54-53040F9D006F}"/>
              </a:ext>
            </a:extLst>
          </p:cNvPr>
          <p:cNvSpPr txBox="1">
            <a:spLocks/>
          </p:cNvSpPr>
          <p:nvPr/>
        </p:nvSpPr>
        <p:spPr>
          <a:xfrm>
            <a:off x="6823627" y="670608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 b="0" i="0" u="none" strike="noStrike" cap="non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" sz="2000" dirty="0"/>
              <a:t>48%</a:t>
            </a:r>
          </a:p>
        </p:txBody>
      </p:sp>
      <p:sp>
        <p:nvSpPr>
          <p:cNvPr id="709" name="Google Shape;519;p51">
            <a:extLst>
              <a:ext uri="{FF2B5EF4-FFF2-40B4-BE49-F238E27FC236}">
                <a16:creationId xmlns:a16="http://schemas.microsoft.com/office/drawing/2014/main" id="{84FD0463-F108-2425-92FA-B3D2E1B32FCD}"/>
              </a:ext>
            </a:extLst>
          </p:cNvPr>
          <p:cNvSpPr txBox="1">
            <a:spLocks/>
          </p:cNvSpPr>
          <p:nvPr/>
        </p:nvSpPr>
        <p:spPr>
          <a:xfrm>
            <a:off x="6436477" y="1798412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b="1" dirty="0"/>
              <a:t>F1-SCORE</a:t>
            </a:r>
          </a:p>
        </p:txBody>
      </p:sp>
      <p:sp>
        <p:nvSpPr>
          <p:cNvPr id="710" name="Google Shape;523;p51">
            <a:extLst>
              <a:ext uri="{FF2B5EF4-FFF2-40B4-BE49-F238E27FC236}">
                <a16:creationId xmlns:a16="http://schemas.microsoft.com/office/drawing/2014/main" id="{E3BC0785-19FC-05F8-BFE6-F1D733CCD9C3}"/>
              </a:ext>
            </a:extLst>
          </p:cNvPr>
          <p:cNvSpPr txBox="1">
            <a:spLocks/>
          </p:cNvSpPr>
          <p:nvPr/>
        </p:nvSpPr>
        <p:spPr>
          <a:xfrm>
            <a:off x="3410674" y="2874331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 b="0" i="0" u="none" strike="noStrike" cap="non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" sz="2000" dirty="0"/>
              <a:t>87%</a:t>
            </a:r>
          </a:p>
        </p:txBody>
      </p:sp>
      <p:sp>
        <p:nvSpPr>
          <p:cNvPr id="711" name="Google Shape;519;p51">
            <a:extLst>
              <a:ext uri="{FF2B5EF4-FFF2-40B4-BE49-F238E27FC236}">
                <a16:creationId xmlns:a16="http://schemas.microsoft.com/office/drawing/2014/main" id="{B33AC7A7-4838-07B2-AAA2-E48C3660F648}"/>
              </a:ext>
            </a:extLst>
          </p:cNvPr>
          <p:cNvSpPr txBox="1">
            <a:spLocks/>
          </p:cNvSpPr>
          <p:nvPr/>
        </p:nvSpPr>
        <p:spPr>
          <a:xfrm>
            <a:off x="3001805" y="3991695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b="1" dirty="0"/>
              <a:t>PRECISÃO</a:t>
            </a:r>
          </a:p>
        </p:txBody>
      </p:sp>
      <p:sp>
        <p:nvSpPr>
          <p:cNvPr id="712" name="Google Shape;519;p51">
            <a:extLst>
              <a:ext uri="{FF2B5EF4-FFF2-40B4-BE49-F238E27FC236}">
                <a16:creationId xmlns:a16="http://schemas.microsoft.com/office/drawing/2014/main" id="{6FC46E77-6C34-E956-A0C2-BF068FB696AD}"/>
              </a:ext>
            </a:extLst>
          </p:cNvPr>
          <p:cNvSpPr txBox="1">
            <a:spLocks/>
          </p:cNvSpPr>
          <p:nvPr/>
        </p:nvSpPr>
        <p:spPr>
          <a:xfrm>
            <a:off x="1557217" y="3434317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dirty="0"/>
              <a:t>NÃO PROPENSOS</a:t>
            </a:r>
          </a:p>
        </p:txBody>
      </p:sp>
      <p:sp>
        <p:nvSpPr>
          <p:cNvPr id="713" name="Google Shape;519;p51">
            <a:extLst>
              <a:ext uri="{FF2B5EF4-FFF2-40B4-BE49-F238E27FC236}">
                <a16:creationId xmlns:a16="http://schemas.microsoft.com/office/drawing/2014/main" id="{5B99CB0A-3ECB-0982-99B5-C1BEAF48B128}"/>
              </a:ext>
            </a:extLst>
          </p:cNvPr>
          <p:cNvSpPr txBox="1">
            <a:spLocks/>
          </p:cNvSpPr>
          <p:nvPr/>
        </p:nvSpPr>
        <p:spPr>
          <a:xfrm>
            <a:off x="4646150" y="3984363"/>
            <a:ext cx="21732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b="1" dirty="0"/>
              <a:t>RECALL</a:t>
            </a:r>
          </a:p>
        </p:txBody>
      </p:sp>
      <p:sp>
        <p:nvSpPr>
          <p:cNvPr id="714" name="Google Shape;523;p51">
            <a:extLst>
              <a:ext uri="{FF2B5EF4-FFF2-40B4-BE49-F238E27FC236}">
                <a16:creationId xmlns:a16="http://schemas.microsoft.com/office/drawing/2014/main" id="{A543F2A6-A01B-6D7A-5D03-80AA97D30D6C}"/>
              </a:ext>
            </a:extLst>
          </p:cNvPr>
          <p:cNvSpPr txBox="1">
            <a:spLocks/>
          </p:cNvSpPr>
          <p:nvPr/>
        </p:nvSpPr>
        <p:spPr>
          <a:xfrm>
            <a:off x="5042656" y="2837660"/>
            <a:ext cx="13989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cellus"/>
              <a:buNone/>
              <a:defRPr sz="3000" b="0" i="0" u="none" strike="noStrike" cap="non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" sz="2000" dirty="0"/>
              <a:t>97%</a:t>
            </a:r>
          </a:p>
        </p:txBody>
      </p:sp>
      <p:grpSp>
        <p:nvGrpSpPr>
          <p:cNvPr id="715" name="Google Shape;1012;p69">
            <a:extLst>
              <a:ext uri="{FF2B5EF4-FFF2-40B4-BE49-F238E27FC236}">
                <a16:creationId xmlns:a16="http://schemas.microsoft.com/office/drawing/2014/main" id="{B2646D6E-5958-3A57-A2DB-0EA25FDF1E82}"/>
              </a:ext>
            </a:extLst>
          </p:cNvPr>
          <p:cNvGrpSpPr/>
          <p:nvPr/>
        </p:nvGrpSpPr>
        <p:grpSpPr>
          <a:xfrm>
            <a:off x="5459689" y="1301401"/>
            <a:ext cx="416874" cy="415826"/>
            <a:chOff x="5414802" y="3943131"/>
            <a:chExt cx="416874" cy="415826"/>
          </a:xfrm>
        </p:grpSpPr>
        <p:sp>
          <p:nvSpPr>
            <p:cNvPr id="716" name="Google Shape;1013;p69">
              <a:extLst>
                <a:ext uri="{FF2B5EF4-FFF2-40B4-BE49-F238E27FC236}">
                  <a16:creationId xmlns:a16="http://schemas.microsoft.com/office/drawing/2014/main" id="{989CA6A0-AF53-F4B0-6249-28D23A84C395}"/>
                </a:ext>
              </a:extLst>
            </p:cNvPr>
            <p:cNvSpPr/>
            <p:nvPr/>
          </p:nvSpPr>
          <p:spPr>
            <a:xfrm>
              <a:off x="5414802" y="3943131"/>
              <a:ext cx="231356" cy="231321"/>
            </a:xfrm>
            <a:custGeom>
              <a:avLst/>
              <a:gdLst/>
              <a:ahLst/>
              <a:cxnLst/>
              <a:rect l="l" t="t" r="r" b="b"/>
              <a:pathLst>
                <a:path w="6622" h="6621" extrusionOk="0">
                  <a:moveTo>
                    <a:pt x="3311" y="2263"/>
                  </a:moveTo>
                  <a:cubicBezTo>
                    <a:pt x="3906" y="2263"/>
                    <a:pt x="4383" y="2739"/>
                    <a:pt x="4383" y="3311"/>
                  </a:cubicBezTo>
                  <a:cubicBezTo>
                    <a:pt x="4383" y="3906"/>
                    <a:pt x="3906" y="4382"/>
                    <a:pt x="3311" y="4382"/>
                  </a:cubicBezTo>
                  <a:cubicBezTo>
                    <a:pt x="2740" y="4382"/>
                    <a:pt x="2263" y="3906"/>
                    <a:pt x="2263" y="3311"/>
                  </a:cubicBezTo>
                  <a:cubicBezTo>
                    <a:pt x="2263" y="2739"/>
                    <a:pt x="2740" y="2263"/>
                    <a:pt x="3311" y="2263"/>
                  </a:cubicBezTo>
                  <a:close/>
                  <a:moveTo>
                    <a:pt x="2763" y="1"/>
                  </a:moveTo>
                  <a:cubicBezTo>
                    <a:pt x="2573" y="1"/>
                    <a:pt x="2430" y="143"/>
                    <a:pt x="2406" y="310"/>
                  </a:cubicBezTo>
                  <a:lnTo>
                    <a:pt x="2335" y="977"/>
                  </a:lnTo>
                  <a:lnTo>
                    <a:pt x="1811" y="548"/>
                  </a:lnTo>
                  <a:cubicBezTo>
                    <a:pt x="1743" y="503"/>
                    <a:pt x="1665" y="480"/>
                    <a:pt x="1589" y="480"/>
                  </a:cubicBezTo>
                  <a:cubicBezTo>
                    <a:pt x="1504" y="480"/>
                    <a:pt x="1421" y="509"/>
                    <a:pt x="1358" y="572"/>
                  </a:cubicBezTo>
                  <a:lnTo>
                    <a:pt x="572" y="1358"/>
                  </a:lnTo>
                  <a:cubicBezTo>
                    <a:pt x="430" y="1501"/>
                    <a:pt x="430" y="1691"/>
                    <a:pt x="549" y="1834"/>
                  </a:cubicBezTo>
                  <a:lnTo>
                    <a:pt x="953" y="2334"/>
                  </a:lnTo>
                  <a:lnTo>
                    <a:pt x="310" y="2406"/>
                  </a:lnTo>
                  <a:cubicBezTo>
                    <a:pt x="120" y="2430"/>
                    <a:pt x="1" y="2573"/>
                    <a:pt x="1" y="2763"/>
                  </a:cubicBezTo>
                  <a:lnTo>
                    <a:pt x="1" y="3858"/>
                  </a:lnTo>
                  <a:cubicBezTo>
                    <a:pt x="1" y="4049"/>
                    <a:pt x="120" y="4192"/>
                    <a:pt x="310" y="4216"/>
                  </a:cubicBezTo>
                  <a:lnTo>
                    <a:pt x="953" y="4287"/>
                  </a:lnTo>
                  <a:lnTo>
                    <a:pt x="549" y="4811"/>
                  </a:lnTo>
                  <a:cubicBezTo>
                    <a:pt x="430" y="4954"/>
                    <a:pt x="453" y="5144"/>
                    <a:pt x="572" y="5264"/>
                  </a:cubicBezTo>
                  <a:lnTo>
                    <a:pt x="1358" y="6049"/>
                  </a:lnTo>
                  <a:cubicBezTo>
                    <a:pt x="1424" y="6115"/>
                    <a:pt x="1518" y="6151"/>
                    <a:pt x="1613" y="6151"/>
                  </a:cubicBezTo>
                  <a:cubicBezTo>
                    <a:pt x="1691" y="6151"/>
                    <a:pt x="1770" y="6127"/>
                    <a:pt x="1835" y="6073"/>
                  </a:cubicBezTo>
                  <a:lnTo>
                    <a:pt x="2335" y="5668"/>
                  </a:lnTo>
                  <a:lnTo>
                    <a:pt x="2406" y="6311"/>
                  </a:lnTo>
                  <a:cubicBezTo>
                    <a:pt x="2430" y="6478"/>
                    <a:pt x="2573" y="6621"/>
                    <a:pt x="2763" y="6621"/>
                  </a:cubicBezTo>
                  <a:lnTo>
                    <a:pt x="3859" y="6621"/>
                  </a:lnTo>
                  <a:cubicBezTo>
                    <a:pt x="4049" y="6621"/>
                    <a:pt x="4192" y="6478"/>
                    <a:pt x="4216" y="6311"/>
                  </a:cubicBezTo>
                  <a:lnTo>
                    <a:pt x="4288" y="5645"/>
                  </a:lnTo>
                  <a:lnTo>
                    <a:pt x="4811" y="6073"/>
                  </a:lnTo>
                  <a:cubicBezTo>
                    <a:pt x="4879" y="6118"/>
                    <a:pt x="4957" y="6142"/>
                    <a:pt x="5033" y="6142"/>
                  </a:cubicBezTo>
                  <a:cubicBezTo>
                    <a:pt x="5118" y="6142"/>
                    <a:pt x="5201" y="6112"/>
                    <a:pt x="5264" y="6049"/>
                  </a:cubicBezTo>
                  <a:lnTo>
                    <a:pt x="6050" y="5264"/>
                  </a:lnTo>
                  <a:cubicBezTo>
                    <a:pt x="6169" y="5121"/>
                    <a:pt x="6193" y="4930"/>
                    <a:pt x="6074" y="4787"/>
                  </a:cubicBezTo>
                  <a:lnTo>
                    <a:pt x="5669" y="4287"/>
                  </a:lnTo>
                  <a:lnTo>
                    <a:pt x="6312" y="4216"/>
                  </a:lnTo>
                  <a:cubicBezTo>
                    <a:pt x="6502" y="4192"/>
                    <a:pt x="6621" y="4049"/>
                    <a:pt x="6621" y="3858"/>
                  </a:cubicBezTo>
                  <a:lnTo>
                    <a:pt x="6621" y="2763"/>
                  </a:lnTo>
                  <a:cubicBezTo>
                    <a:pt x="6621" y="2573"/>
                    <a:pt x="6502" y="2430"/>
                    <a:pt x="6312" y="2406"/>
                  </a:cubicBezTo>
                  <a:lnTo>
                    <a:pt x="5669" y="2334"/>
                  </a:lnTo>
                  <a:lnTo>
                    <a:pt x="6074" y="1810"/>
                  </a:lnTo>
                  <a:cubicBezTo>
                    <a:pt x="6193" y="1668"/>
                    <a:pt x="6169" y="1477"/>
                    <a:pt x="6050" y="1358"/>
                  </a:cubicBezTo>
                  <a:lnTo>
                    <a:pt x="5264" y="572"/>
                  </a:lnTo>
                  <a:cubicBezTo>
                    <a:pt x="5198" y="507"/>
                    <a:pt x="5104" y="470"/>
                    <a:pt x="5009" y="470"/>
                  </a:cubicBezTo>
                  <a:cubicBezTo>
                    <a:pt x="4931" y="470"/>
                    <a:pt x="4852" y="495"/>
                    <a:pt x="4788" y="548"/>
                  </a:cubicBezTo>
                  <a:lnTo>
                    <a:pt x="4288" y="953"/>
                  </a:lnTo>
                  <a:lnTo>
                    <a:pt x="4216" y="310"/>
                  </a:lnTo>
                  <a:cubicBezTo>
                    <a:pt x="4192" y="143"/>
                    <a:pt x="4049" y="1"/>
                    <a:pt x="3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1014;p69">
              <a:extLst>
                <a:ext uri="{FF2B5EF4-FFF2-40B4-BE49-F238E27FC236}">
                  <a16:creationId xmlns:a16="http://schemas.microsoft.com/office/drawing/2014/main" id="{5C33B5BB-A127-881F-8091-F4F7D1F206A9}"/>
                </a:ext>
              </a:extLst>
            </p:cNvPr>
            <p:cNvSpPr/>
            <p:nvPr/>
          </p:nvSpPr>
          <p:spPr>
            <a:xfrm>
              <a:off x="5599516" y="4131025"/>
              <a:ext cx="232160" cy="227932"/>
            </a:xfrm>
            <a:custGeom>
              <a:avLst/>
              <a:gdLst/>
              <a:ahLst/>
              <a:cxnLst/>
              <a:rect l="l" t="t" r="r" b="b"/>
              <a:pathLst>
                <a:path w="6645" h="6524" extrusionOk="0">
                  <a:moveTo>
                    <a:pt x="3317" y="2213"/>
                  </a:moveTo>
                  <a:cubicBezTo>
                    <a:pt x="3734" y="2213"/>
                    <a:pt x="4126" y="2450"/>
                    <a:pt x="4287" y="2862"/>
                  </a:cubicBezTo>
                  <a:cubicBezTo>
                    <a:pt x="4502" y="3386"/>
                    <a:pt x="4264" y="4005"/>
                    <a:pt x="3716" y="4220"/>
                  </a:cubicBezTo>
                  <a:cubicBezTo>
                    <a:pt x="3587" y="4273"/>
                    <a:pt x="3452" y="4298"/>
                    <a:pt x="3319" y="4298"/>
                  </a:cubicBezTo>
                  <a:cubicBezTo>
                    <a:pt x="2911" y="4298"/>
                    <a:pt x="2520" y="4061"/>
                    <a:pt x="2358" y="3648"/>
                  </a:cubicBezTo>
                  <a:cubicBezTo>
                    <a:pt x="2120" y="3124"/>
                    <a:pt x="2382" y="2505"/>
                    <a:pt x="2906" y="2291"/>
                  </a:cubicBezTo>
                  <a:cubicBezTo>
                    <a:pt x="3041" y="2238"/>
                    <a:pt x="3180" y="2213"/>
                    <a:pt x="3317" y="2213"/>
                  </a:cubicBezTo>
                  <a:close/>
                  <a:moveTo>
                    <a:pt x="2686" y="0"/>
                  </a:moveTo>
                  <a:cubicBezTo>
                    <a:pt x="2640" y="0"/>
                    <a:pt x="2594" y="9"/>
                    <a:pt x="2549" y="28"/>
                  </a:cubicBezTo>
                  <a:lnTo>
                    <a:pt x="1549" y="457"/>
                  </a:lnTo>
                  <a:cubicBezTo>
                    <a:pt x="1382" y="505"/>
                    <a:pt x="1287" y="695"/>
                    <a:pt x="1334" y="862"/>
                  </a:cubicBezTo>
                  <a:lnTo>
                    <a:pt x="1525" y="1481"/>
                  </a:lnTo>
                  <a:lnTo>
                    <a:pt x="906" y="1314"/>
                  </a:lnTo>
                  <a:cubicBezTo>
                    <a:pt x="872" y="1305"/>
                    <a:pt x="837" y="1300"/>
                    <a:pt x="802" y="1300"/>
                  </a:cubicBezTo>
                  <a:cubicBezTo>
                    <a:pt x="666" y="1300"/>
                    <a:pt x="534" y="1372"/>
                    <a:pt x="477" y="1505"/>
                  </a:cubicBezTo>
                  <a:lnTo>
                    <a:pt x="72" y="2529"/>
                  </a:lnTo>
                  <a:cubicBezTo>
                    <a:pt x="1" y="2696"/>
                    <a:pt x="72" y="2886"/>
                    <a:pt x="215" y="2958"/>
                  </a:cubicBezTo>
                  <a:lnTo>
                    <a:pt x="787" y="3267"/>
                  </a:lnTo>
                  <a:lnTo>
                    <a:pt x="215" y="3577"/>
                  </a:lnTo>
                  <a:cubicBezTo>
                    <a:pt x="72" y="3672"/>
                    <a:pt x="1" y="3839"/>
                    <a:pt x="72" y="4005"/>
                  </a:cubicBezTo>
                  <a:lnTo>
                    <a:pt x="501" y="5029"/>
                  </a:lnTo>
                  <a:cubicBezTo>
                    <a:pt x="539" y="5162"/>
                    <a:pt x="667" y="5234"/>
                    <a:pt x="802" y="5234"/>
                  </a:cubicBezTo>
                  <a:cubicBezTo>
                    <a:pt x="837" y="5234"/>
                    <a:pt x="872" y="5230"/>
                    <a:pt x="906" y="5220"/>
                  </a:cubicBezTo>
                  <a:lnTo>
                    <a:pt x="1525" y="5053"/>
                  </a:lnTo>
                  <a:lnTo>
                    <a:pt x="1358" y="5672"/>
                  </a:lnTo>
                  <a:cubicBezTo>
                    <a:pt x="1311" y="5839"/>
                    <a:pt x="1406" y="6030"/>
                    <a:pt x="1549" y="6077"/>
                  </a:cubicBezTo>
                  <a:lnTo>
                    <a:pt x="2573" y="6506"/>
                  </a:lnTo>
                  <a:cubicBezTo>
                    <a:pt x="2613" y="6517"/>
                    <a:pt x="2655" y="6523"/>
                    <a:pt x="2697" y="6523"/>
                  </a:cubicBezTo>
                  <a:cubicBezTo>
                    <a:pt x="2826" y="6523"/>
                    <a:pt x="2953" y="6465"/>
                    <a:pt x="3025" y="6339"/>
                  </a:cubicBezTo>
                  <a:lnTo>
                    <a:pt x="3311" y="5791"/>
                  </a:lnTo>
                  <a:lnTo>
                    <a:pt x="3621" y="6339"/>
                  </a:lnTo>
                  <a:cubicBezTo>
                    <a:pt x="3687" y="6456"/>
                    <a:pt x="3801" y="6514"/>
                    <a:pt x="3920" y="6514"/>
                  </a:cubicBezTo>
                  <a:cubicBezTo>
                    <a:pt x="3971" y="6514"/>
                    <a:pt x="4023" y="6504"/>
                    <a:pt x="4073" y="6482"/>
                  </a:cubicBezTo>
                  <a:lnTo>
                    <a:pt x="5097" y="6077"/>
                  </a:lnTo>
                  <a:cubicBezTo>
                    <a:pt x="5240" y="6006"/>
                    <a:pt x="5335" y="5815"/>
                    <a:pt x="5288" y="5649"/>
                  </a:cubicBezTo>
                  <a:lnTo>
                    <a:pt x="5097" y="5029"/>
                  </a:lnTo>
                  <a:lnTo>
                    <a:pt x="5740" y="5196"/>
                  </a:lnTo>
                  <a:cubicBezTo>
                    <a:pt x="5774" y="5206"/>
                    <a:pt x="5808" y="5211"/>
                    <a:pt x="5841" y="5211"/>
                  </a:cubicBezTo>
                  <a:cubicBezTo>
                    <a:pt x="5971" y="5211"/>
                    <a:pt x="6088" y="5138"/>
                    <a:pt x="6145" y="5006"/>
                  </a:cubicBezTo>
                  <a:lnTo>
                    <a:pt x="6574" y="3982"/>
                  </a:lnTo>
                  <a:cubicBezTo>
                    <a:pt x="6645" y="3839"/>
                    <a:pt x="6574" y="3648"/>
                    <a:pt x="6407" y="3553"/>
                  </a:cubicBezTo>
                  <a:lnTo>
                    <a:pt x="5859" y="3243"/>
                  </a:lnTo>
                  <a:lnTo>
                    <a:pt x="6407" y="2934"/>
                  </a:lnTo>
                  <a:cubicBezTo>
                    <a:pt x="6574" y="2862"/>
                    <a:pt x="6621" y="2672"/>
                    <a:pt x="6550" y="2505"/>
                  </a:cubicBezTo>
                  <a:lnTo>
                    <a:pt x="6145" y="1481"/>
                  </a:lnTo>
                  <a:cubicBezTo>
                    <a:pt x="6086" y="1364"/>
                    <a:pt x="5947" y="1278"/>
                    <a:pt x="5806" y="1278"/>
                  </a:cubicBezTo>
                  <a:cubicBezTo>
                    <a:pt x="5776" y="1278"/>
                    <a:pt x="5746" y="1282"/>
                    <a:pt x="5716" y="1291"/>
                  </a:cubicBezTo>
                  <a:lnTo>
                    <a:pt x="5097" y="1481"/>
                  </a:lnTo>
                  <a:lnTo>
                    <a:pt x="5264" y="838"/>
                  </a:lnTo>
                  <a:cubicBezTo>
                    <a:pt x="5311" y="671"/>
                    <a:pt x="5240" y="505"/>
                    <a:pt x="5073" y="433"/>
                  </a:cubicBezTo>
                  <a:lnTo>
                    <a:pt x="4049" y="28"/>
                  </a:lnTo>
                  <a:cubicBezTo>
                    <a:pt x="4005" y="9"/>
                    <a:pt x="3958" y="0"/>
                    <a:pt x="3913" y="0"/>
                  </a:cubicBezTo>
                  <a:cubicBezTo>
                    <a:pt x="3789" y="0"/>
                    <a:pt x="3673" y="67"/>
                    <a:pt x="3621" y="171"/>
                  </a:cubicBezTo>
                  <a:lnTo>
                    <a:pt x="3311" y="743"/>
                  </a:lnTo>
                  <a:lnTo>
                    <a:pt x="3001" y="171"/>
                  </a:lnTo>
                  <a:cubicBezTo>
                    <a:pt x="2932" y="67"/>
                    <a:pt x="2811" y="0"/>
                    <a:pt x="26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015;p69">
              <a:extLst>
                <a:ext uri="{FF2B5EF4-FFF2-40B4-BE49-F238E27FC236}">
                  <a16:creationId xmlns:a16="http://schemas.microsoft.com/office/drawing/2014/main" id="{B438A5B2-D8DF-DDD6-0FFD-5C6D3F007EEA}"/>
                </a:ext>
              </a:extLst>
            </p:cNvPr>
            <p:cNvSpPr/>
            <p:nvPr/>
          </p:nvSpPr>
          <p:spPr>
            <a:xfrm>
              <a:off x="5669426" y="3980479"/>
              <a:ext cx="104847" cy="119102"/>
            </a:xfrm>
            <a:custGeom>
              <a:avLst/>
              <a:gdLst/>
              <a:ahLst/>
              <a:cxnLst/>
              <a:rect l="l" t="t" r="r" b="b"/>
              <a:pathLst>
                <a:path w="3001" h="3409" extrusionOk="0">
                  <a:moveTo>
                    <a:pt x="908" y="0"/>
                  </a:moveTo>
                  <a:cubicBezTo>
                    <a:pt x="803" y="0"/>
                    <a:pt x="699" y="49"/>
                    <a:pt x="643" y="146"/>
                  </a:cubicBezTo>
                  <a:lnTo>
                    <a:pt x="119" y="837"/>
                  </a:lnTo>
                  <a:cubicBezTo>
                    <a:pt x="0" y="980"/>
                    <a:pt x="24" y="1170"/>
                    <a:pt x="143" y="1289"/>
                  </a:cubicBezTo>
                  <a:lnTo>
                    <a:pt x="715" y="1861"/>
                  </a:lnTo>
                  <a:cubicBezTo>
                    <a:pt x="786" y="1932"/>
                    <a:pt x="875" y="1968"/>
                    <a:pt x="965" y="1968"/>
                  </a:cubicBezTo>
                  <a:cubicBezTo>
                    <a:pt x="1054" y="1968"/>
                    <a:pt x="1143" y="1932"/>
                    <a:pt x="1215" y="1861"/>
                  </a:cubicBezTo>
                  <a:cubicBezTo>
                    <a:pt x="1358" y="1718"/>
                    <a:pt x="1358" y="1504"/>
                    <a:pt x="1215" y="1361"/>
                  </a:cubicBezTo>
                  <a:lnTo>
                    <a:pt x="1143" y="1313"/>
                  </a:lnTo>
                  <a:lnTo>
                    <a:pt x="1143" y="1313"/>
                  </a:lnTo>
                  <a:cubicBezTo>
                    <a:pt x="1405" y="1337"/>
                    <a:pt x="1620" y="1456"/>
                    <a:pt x="1810" y="1646"/>
                  </a:cubicBezTo>
                  <a:cubicBezTo>
                    <a:pt x="2143" y="1980"/>
                    <a:pt x="2263" y="2480"/>
                    <a:pt x="2096" y="2932"/>
                  </a:cubicBezTo>
                  <a:cubicBezTo>
                    <a:pt x="2024" y="3123"/>
                    <a:pt x="2120" y="3313"/>
                    <a:pt x="2286" y="3385"/>
                  </a:cubicBezTo>
                  <a:cubicBezTo>
                    <a:pt x="2330" y="3401"/>
                    <a:pt x="2374" y="3409"/>
                    <a:pt x="2416" y="3409"/>
                  </a:cubicBezTo>
                  <a:cubicBezTo>
                    <a:pt x="2558" y="3409"/>
                    <a:pt x="2684" y="3323"/>
                    <a:pt x="2739" y="3194"/>
                  </a:cubicBezTo>
                  <a:cubicBezTo>
                    <a:pt x="3001" y="2480"/>
                    <a:pt x="2834" y="1694"/>
                    <a:pt x="2310" y="1146"/>
                  </a:cubicBezTo>
                  <a:cubicBezTo>
                    <a:pt x="2001" y="837"/>
                    <a:pt x="1572" y="646"/>
                    <a:pt x="1143" y="599"/>
                  </a:cubicBezTo>
                  <a:lnTo>
                    <a:pt x="1191" y="551"/>
                  </a:lnTo>
                  <a:cubicBezTo>
                    <a:pt x="1310" y="408"/>
                    <a:pt x="1286" y="170"/>
                    <a:pt x="1119" y="75"/>
                  </a:cubicBezTo>
                  <a:cubicBezTo>
                    <a:pt x="1060" y="25"/>
                    <a:pt x="984" y="0"/>
                    <a:pt x="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016;p69">
              <a:extLst>
                <a:ext uri="{FF2B5EF4-FFF2-40B4-BE49-F238E27FC236}">
                  <a16:creationId xmlns:a16="http://schemas.microsoft.com/office/drawing/2014/main" id="{B365D289-308F-027A-C520-BE355CE3AD24}"/>
                </a:ext>
              </a:extLst>
            </p:cNvPr>
            <p:cNvSpPr/>
            <p:nvPr/>
          </p:nvSpPr>
          <p:spPr>
            <a:xfrm>
              <a:off x="5473043" y="4196079"/>
              <a:ext cx="104882" cy="119346"/>
            </a:xfrm>
            <a:custGeom>
              <a:avLst/>
              <a:gdLst/>
              <a:ahLst/>
              <a:cxnLst/>
              <a:rect l="l" t="t" r="r" b="b"/>
              <a:pathLst>
                <a:path w="3002" h="3416" extrusionOk="0">
                  <a:moveTo>
                    <a:pt x="598" y="0"/>
                  </a:moveTo>
                  <a:cubicBezTo>
                    <a:pt x="461" y="0"/>
                    <a:pt x="324" y="91"/>
                    <a:pt x="287" y="238"/>
                  </a:cubicBezTo>
                  <a:cubicBezTo>
                    <a:pt x="1" y="929"/>
                    <a:pt x="168" y="1739"/>
                    <a:pt x="715" y="2262"/>
                  </a:cubicBezTo>
                  <a:cubicBezTo>
                    <a:pt x="1025" y="2572"/>
                    <a:pt x="1430" y="2763"/>
                    <a:pt x="1858" y="2810"/>
                  </a:cubicBezTo>
                  <a:lnTo>
                    <a:pt x="1811" y="2858"/>
                  </a:lnTo>
                  <a:cubicBezTo>
                    <a:pt x="1716" y="3025"/>
                    <a:pt x="1739" y="3239"/>
                    <a:pt x="1906" y="3358"/>
                  </a:cubicBezTo>
                  <a:cubicBezTo>
                    <a:pt x="1963" y="3396"/>
                    <a:pt x="2032" y="3415"/>
                    <a:pt x="2101" y="3415"/>
                  </a:cubicBezTo>
                  <a:cubicBezTo>
                    <a:pt x="2205" y="3415"/>
                    <a:pt x="2311" y="3372"/>
                    <a:pt x="2382" y="3286"/>
                  </a:cubicBezTo>
                  <a:lnTo>
                    <a:pt x="2906" y="2572"/>
                  </a:lnTo>
                  <a:cubicBezTo>
                    <a:pt x="3002" y="2429"/>
                    <a:pt x="3002" y="2239"/>
                    <a:pt x="2882" y="2120"/>
                  </a:cubicBezTo>
                  <a:lnTo>
                    <a:pt x="2311" y="1548"/>
                  </a:lnTo>
                  <a:lnTo>
                    <a:pt x="2311" y="1572"/>
                  </a:lnTo>
                  <a:cubicBezTo>
                    <a:pt x="2239" y="1500"/>
                    <a:pt x="2150" y="1465"/>
                    <a:pt x="2061" y="1465"/>
                  </a:cubicBezTo>
                  <a:cubicBezTo>
                    <a:pt x="1972" y="1465"/>
                    <a:pt x="1882" y="1500"/>
                    <a:pt x="1811" y="1572"/>
                  </a:cubicBezTo>
                  <a:cubicBezTo>
                    <a:pt x="1668" y="1691"/>
                    <a:pt x="1668" y="1929"/>
                    <a:pt x="1811" y="2048"/>
                  </a:cubicBezTo>
                  <a:lnTo>
                    <a:pt x="1882" y="2120"/>
                  </a:lnTo>
                  <a:cubicBezTo>
                    <a:pt x="1620" y="2072"/>
                    <a:pt x="1382" y="1953"/>
                    <a:pt x="1215" y="1786"/>
                  </a:cubicBezTo>
                  <a:cubicBezTo>
                    <a:pt x="858" y="1429"/>
                    <a:pt x="763" y="929"/>
                    <a:pt x="930" y="476"/>
                  </a:cubicBezTo>
                  <a:cubicBezTo>
                    <a:pt x="1001" y="310"/>
                    <a:pt x="906" y="95"/>
                    <a:pt x="715" y="24"/>
                  </a:cubicBezTo>
                  <a:cubicBezTo>
                    <a:pt x="678" y="8"/>
                    <a:pt x="638" y="0"/>
                    <a:pt x="5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1012;p69">
            <a:extLst>
              <a:ext uri="{FF2B5EF4-FFF2-40B4-BE49-F238E27FC236}">
                <a16:creationId xmlns:a16="http://schemas.microsoft.com/office/drawing/2014/main" id="{80D69A00-616A-5EBC-17EA-2A63F0E9ACE2}"/>
              </a:ext>
            </a:extLst>
          </p:cNvPr>
          <p:cNvGrpSpPr/>
          <p:nvPr/>
        </p:nvGrpSpPr>
        <p:grpSpPr>
          <a:xfrm>
            <a:off x="5453331" y="3395395"/>
            <a:ext cx="416874" cy="415826"/>
            <a:chOff x="5414802" y="3943131"/>
            <a:chExt cx="416874" cy="415826"/>
          </a:xfrm>
        </p:grpSpPr>
        <p:sp>
          <p:nvSpPr>
            <p:cNvPr id="721" name="Google Shape;1013;p69">
              <a:extLst>
                <a:ext uri="{FF2B5EF4-FFF2-40B4-BE49-F238E27FC236}">
                  <a16:creationId xmlns:a16="http://schemas.microsoft.com/office/drawing/2014/main" id="{096CB975-8B95-2733-971F-086D88ACBA6E}"/>
                </a:ext>
              </a:extLst>
            </p:cNvPr>
            <p:cNvSpPr/>
            <p:nvPr/>
          </p:nvSpPr>
          <p:spPr>
            <a:xfrm>
              <a:off x="5414802" y="3943131"/>
              <a:ext cx="231356" cy="231321"/>
            </a:xfrm>
            <a:custGeom>
              <a:avLst/>
              <a:gdLst/>
              <a:ahLst/>
              <a:cxnLst/>
              <a:rect l="l" t="t" r="r" b="b"/>
              <a:pathLst>
                <a:path w="6622" h="6621" extrusionOk="0">
                  <a:moveTo>
                    <a:pt x="3311" y="2263"/>
                  </a:moveTo>
                  <a:cubicBezTo>
                    <a:pt x="3906" y="2263"/>
                    <a:pt x="4383" y="2739"/>
                    <a:pt x="4383" y="3311"/>
                  </a:cubicBezTo>
                  <a:cubicBezTo>
                    <a:pt x="4383" y="3906"/>
                    <a:pt x="3906" y="4382"/>
                    <a:pt x="3311" y="4382"/>
                  </a:cubicBezTo>
                  <a:cubicBezTo>
                    <a:pt x="2740" y="4382"/>
                    <a:pt x="2263" y="3906"/>
                    <a:pt x="2263" y="3311"/>
                  </a:cubicBezTo>
                  <a:cubicBezTo>
                    <a:pt x="2263" y="2739"/>
                    <a:pt x="2740" y="2263"/>
                    <a:pt x="3311" y="2263"/>
                  </a:cubicBezTo>
                  <a:close/>
                  <a:moveTo>
                    <a:pt x="2763" y="1"/>
                  </a:moveTo>
                  <a:cubicBezTo>
                    <a:pt x="2573" y="1"/>
                    <a:pt x="2430" y="143"/>
                    <a:pt x="2406" y="310"/>
                  </a:cubicBezTo>
                  <a:lnTo>
                    <a:pt x="2335" y="977"/>
                  </a:lnTo>
                  <a:lnTo>
                    <a:pt x="1811" y="548"/>
                  </a:lnTo>
                  <a:cubicBezTo>
                    <a:pt x="1743" y="503"/>
                    <a:pt x="1665" y="480"/>
                    <a:pt x="1589" y="480"/>
                  </a:cubicBezTo>
                  <a:cubicBezTo>
                    <a:pt x="1504" y="480"/>
                    <a:pt x="1421" y="509"/>
                    <a:pt x="1358" y="572"/>
                  </a:cubicBezTo>
                  <a:lnTo>
                    <a:pt x="572" y="1358"/>
                  </a:lnTo>
                  <a:cubicBezTo>
                    <a:pt x="430" y="1501"/>
                    <a:pt x="430" y="1691"/>
                    <a:pt x="549" y="1834"/>
                  </a:cubicBezTo>
                  <a:lnTo>
                    <a:pt x="953" y="2334"/>
                  </a:lnTo>
                  <a:lnTo>
                    <a:pt x="310" y="2406"/>
                  </a:lnTo>
                  <a:cubicBezTo>
                    <a:pt x="120" y="2430"/>
                    <a:pt x="1" y="2573"/>
                    <a:pt x="1" y="2763"/>
                  </a:cubicBezTo>
                  <a:lnTo>
                    <a:pt x="1" y="3858"/>
                  </a:lnTo>
                  <a:cubicBezTo>
                    <a:pt x="1" y="4049"/>
                    <a:pt x="120" y="4192"/>
                    <a:pt x="310" y="4216"/>
                  </a:cubicBezTo>
                  <a:lnTo>
                    <a:pt x="953" y="4287"/>
                  </a:lnTo>
                  <a:lnTo>
                    <a:pt x="549" y="4811"/>
                  </a:lnTo>
                  <a:cubicBezTo>
                    <a:pt x="430" y="4954"/>
                    <a:pt x="453" y="5144"/>
                    <a:pt x="572" y="5264"/>
                  </a:cubicBezTo>
                  <a:lnTo>
                    <a:pt x="1358" y="6049"/>
                  </a:lnTo>
                  <a:cubicBezTo>
                    <a:pt x="1424" y="6115"/>
                    <a:pt x="1518" y="6151"/>
                    <a:pt x="1613" y="6151"/>
                  </a:cubicBezTo>
                  <a:cubicBezTo>
                    <a:pt x="1691" y="6151"/>
                    <a:pt x="1770" y="6127"/>
                    <a:pt x="1835" y="6073"/>
                  </a:cubicBezTo>
                  <a:lnTo>
                    <a:pt x="2335" y="5668"/>
                  </a:lnTo>
                  <a:lnTo>
                    <a:pt x="2406" y="6311"/>
                  </a:lnTo>
                  <a:cubicBezTo>
                    <a:pt x="2430" y="6478"/>
                    <a:pt x="2573" y="6621"/>
                    <a:pt x="2763" y="6621"/>
                  </a:cubicBezTo>
                  <a:lnTo>
                    <a:pt x="3859" y="6621"/>
                  </a:lnTo>
                  <a:cubicBezTo>
                    <a:pt x="4049" y="6621"/>
                    <a:pt x="4192" y="6478"/>
                    <a:pt x="4216" y="6311"/>
                  </a:cubicBezTo>
                  <a:lnTo>
                    <a:pt x="4288" y="5645"/>
                  </a:lnTo>
                  <a:lnTo>
                    <a:pt x="4811" y="6073"/>
                  </a:lnTo>
                  <a:cubicBezTo>
                    <a:pt x="4879" y="6118"/>
                    <a:pt x="4957" y="6142"/>
                    <a:pt x="5033" y="6142"/>
                  </a:cubicBezTo>
                  <a:cubicBezTo>
                    <a:pt x="5118" y="6142"/>
                    <a:pt x="5201" y="6112"/>
                    <a:pt x="5264" y="6049"/>
                  </a:cubicBezTo>
                  <a:lnTo>
                    <a:pt x="6050" y="5264"/>
                  </a:lnTo>
                  <a:cubicBezTo>
                    <a:pt x="6169" y="5121"/>
                    <a:pt x="6193" y="4930"/>
                    <a:pt x="6074" y="4787"/>
                  </a:cubicBezTo>
                  <a:lnTo>
                    <a:pt x="5669" y="4287"/>
                  </a:lnTo>
                  <a:lnTo>
                    <a:pt x="6312" y="4216"/>
                  </a:lnTo>
                  <a:cubicBezTo>
                    <a:pt x="6502" y="4192"/>
                    <a:pt x="6621" y="4049"/>
                    <a:pt x="6621" y="3858"/>
                  </a:cubicBezTo>
                  <a:lnTo>
                    <a:pt x="6621" y="2763"/>
                  </a:lnTo>
                  <a:cubicBezTo>
                    <a:pt x="6621" y="2573"/>
                    <a:pt x="6502" y="2430"/>
                    <a:pt x="6312" y="2406"/>
                  </a:cubicBezTo>
                  <a:lnTo>
                    <a:pt x="5669" y="2334"/>
                  </a:lnTo>
                  <a:lnTo>
                    <a:pt x="6074" y="1810"/>
                  </a:lnTo>
                  <a:cubicBezTo>
                    <a:pt x="6193" y="1668"/>
                    <a:pt x="6169" y="1477"/>
                    <a:pt x="6050" y="1358"/>
                  </a:cubicBezTo>
                  <a:lnTo>
                    <a:pt x="5264" y="572"/>
                  </a:lnTo>
                  <a:cubicBezTo>
                    <a:pt x="5198" y="507"/>
                    <a:pt x="5104" y="470"/>
                    <a:pt x="5009" y="470"/>
                  </a:cubicBezTo>
                  <a:cubicBezTo>
                    <a:pt x="4931" y="470"/>
                    <a:pt x="4852" y="495"/>
                    <a:pt x="4788" y="548"/>
                  </a:cubicBezTo>
                  <a:lnTo>
                    <a:pt x="4288" y="953"/>
                  </a:lnTo>
                  <a:lnTo>
                    <a:pt x="4216" y="310"/>
                  </a:lnTo>
                  <a:cubicBezTo>
                    <a:pt x="4192" y="143"/>
                    <a:pt x="4049" y="1"/>
                    <a:pt x="3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1014;p69">
              <a:extLst>
                <a:ext uri="{FF2B5EF4-FFF2-40B4-BE49-F238E27FC236}">
                  <a16:creationId xmlns:a16="http://schemas.microsoft.com/office/drawing/2014/main" id="{4315DFF3-CD8B-494E-E989-B7CF31C5DF00}"/>
                </a:ext>
              </a:extLst>
            </p:cNvPr>
            <p:cNvSpPr/>
            <p:nvPr/>
          </p:nvSpPr>
          <p:spPr>
            <a:xfrm>
              <a:off x="5599516" y="4131025"/>
              <a:ext cx="232160" cy="227932"/>
            </a:xfrm>
            <a:custGeom>
              <a:avLst/>
              <a:gdLst/>
              <a:ahLst/>
              <a:cxnLst/>
              <a:rect l="l" t="t" r="r" b="b"/>
              <a:pathLst>
                <a:path w="6645" h="6524" extrusionOk="0">
                  <a:moveTo>
                    <a:pt x="3317" y="2213"/>
                  </a:moveTo>
                  <a:cubicBezTo>
                    <a:pt x="3734" y="2213"/>
                    <a:pt x="4126" y="2450"/>
                    <a:pt x="4287" y="2862"/>
                  </a:cubicBezTo>
                  <a:cubicBezTo>
                    <a:pt x="4502" y="3386"/>
                    <a:pt x="4264" y="4005"/>
                    <a:pt x="3716" y="4220"/>
                  </a:cubicBezTo>
                  <a:cubicBezTo>
                    <a:pt x="3587" y="4273"/>
                    <a:pt x="3452" y="4298"/>
                    <a:pt x="3319" y="4298"/>
                  </a:cubicBezTo>
                  <a:cubicBezTo>
                    <a:pt x="2911" y="4298"/>
                    <a:pt x="2520" y="4061"/>
                    <a:pt x="2358" y="3648"/>
                  </a:cubicBezTo>
                  <a:cubicBezTo>
                    <a:pt x="2120" y="3124"/>
                    <a:pt x="2382" y="2505"/>
                    <a:pt x="2906" y="2291"/>
                  </a:cubicBezTo>
                  <a:cubicBezTo>
                    <a:pt x="3041" y="2238"/>
                    <a:pt x="3180" y="2213"/>
                    <a:pt x="3317" y="2213"/>
                  </a:cubicBezTo>
                  <a:close/>
                  <a:moveTo>
                    <a:pt x="2686" y="0"/>
                  </a:moveTo>
                  <a:cubicBezTo>
                    <a:pt x="2640" y="0"/>
                    <a:pt x="2594" y="9"/>
                    <a:pt x="2549" y="28"/>
                  </a:cubicBezTo>
                  <a:lnTo>
                    <a:pt x="1549" y="457"/>
                  </a:lnTo>
                  <a:cubicBezTo>
                    <a:pt x="1382" y="505"/>
                    <a:pt x="1287" y="695"/>
                    <a:pt x="1334" y="862"/>
                  </a:cubicBezTo>
                  <a:lnTo>
                    <a:pt x="1525" y="1481"/>
                  </a:lnTo>
                  <a:lnTo>
                    <a:pt x="906" y="1314"/>
                  </a:lnTo>
                  <a:cubicBezTo>
                    <a:pt x="872" y="1305"/>
                    <a:pt x="837" y="1300"/>
                    <a:pt x="802" y="1300"/>
                  </a:cubicBezTo>
                  <a:cubicBezTo>
                    <a:pt x="666" y="1300"/>
                    <a:pt x="534" y="1372"/>
                    <a:pt x="477" y="1505"/>
                  </a:cubicBezTo>
                  <a:lnTo>
                    <a:pt x="72" y="2529"/>
                  </a:lnTo>
                  <a:cubicBezTo>
                    <a:pt x="1" y="2696"/>
                    <a:pt x="72" y="2886"/>
                    <a:pt x="215" y="2958"/>
                  </a:cubicBezTo>
                  <a:lnTo>
                    <a:pt x="787" y="3267"/>
                  </a:lnTo>
                  <a:lnTo>
                    <a:pt x="215" y="3577"/>
                  </a:lnTo>
                  <a:cubicBezTo>
                    <a:pt x="72" y="3672"/>
                    <a:pt x="1" y="3839"/>
                    <a:pt x="72" y="4005"/>
                  </a:cubicBezTo>
                  <a:lnTo>
                    <a:pt x="501" y="5029"/>
                  </a:lnTo>
                  <a:cubicBezTo>
                    <a:pt x="539" y="5162"/>
                    <a:pt x="667" y="5234"/>
                    <a:pt x="802" y="5234"/>
                  </a:cubicBezTo>
                  <a:cubicBezTo>
                    <a:pt x="837" y="5234"/>
                    <a:pt x="872" y="5230"/>
                    <a:pt x="906" y="5220"/>
                  </a:cubicBezTo>
                  <a:lnTo>
                    <a:pt x="1525" y="5053"/>
                  </a:lnTo>
                  <a:lnTo>
                    <a:pt x="1358" y="5672"/>
                  </a:lnTo>
                  <a:cubicBezTo>
                    <a:pt x="1311" y="5839"/>
                    <a:pt x="1406" y="6030"/>
                    <a:pt x="1549" y="6077"/>
                  </a:cubicBezTo>
                  <a:lnTo>
                    <a:pt x="2573" y="6506"/>
                  </a:lnTo>
                  <a:cubicBezTo>
                    <a:pt x="2613" y="6517"/>
                    <a:pt x="2655" y="6523"/>
                    <a:pt x="2697" y="6523"/>
                  </a:cubicBezTo>
                  <a:cubicBezTo>
                    <a:pt x="2826" y="6523"/>
                    <a:pt x="2953" y="6465"/>
                    <a:pt x="3025" y="6339"/>
                  </a:cubicBezTo>
                  <a:lnTo>
                    <a:pt x="3311" y="5791"/>
                  </a:lnTo>
                  <a:lnTo>
                    <a:pt x="3621" y="6339"/>
                  </a:lnTo>
                  <a:cubicBezTo>
                    <a:pt x="3687" y="6456"/>
                    <a:pt x="3801" y="6514"/>
                    <a:pt x="3920" y="6514"/>
                  </a:cubicBezTo>
                  <a:cubicBezTo>
                    <a:pt x="3971" y="6514"/>
                    <a:pt x="4023" y="6504"/>
                    <a:pt x="4073" y="6482"/>
                  </a:cubicBezTo>
                  <a:lnTo>
                    <a:pt x="5097" y="6077"/>
                  </a:lnTo>
                  <a:cubicBezTo>
                    <a:pt x="5240" y="6006"/>
                    <a:pt x="5335" y="5815"/>
                    <a:pt x="5288" y="5649"/>
                  </a:cubicBezTo>
                  <a:lnTo>
                    <a:pt x="5097" y="5029"/>
                  </a:lnTo>
                  <a:lnTo>
                    <a:pt x="5740" y="5196"/>
                  </a:lnTo>
                  <a:cubicBezTo>
                    <a:pt x="5774" y="5206"/>
                    <a:pt x="5808" y="5211"/>
                    <a:pt x="5841" y="5211"/>
                  </a:cubicBezTo>
                  <a:cubicBezTo>
                    <a:pt x="5971" y="5211"/>
                    <a:pt x="6088" y="5138"/>
                    <a:pt x="6145" y="5006"/>
                  </a:cubicBezTo>
                  <a:lnTo>
                    <a:pt x="6574" y="3982"/>
                  </a:lnTo>
                  <a:cubicBezTo>
                    <a:pt x="6645" y="3839"/>
                    <a:pt x="6574" y="3648"/>
                    <a:pt x="6407" y="3553"/>
                  </a:cubicBezTo>
                  <a:lnTo>
                    <a:pt x="5859" y="3243"/>
                  </a:lnTo>
                  <a:lnTo>
                    <a:pt x="6407" y="2934"/>
                  </a:lnTo>
                  <a:cubicBezTo>
                    <a:pt x="6574" y="2862"/>
                    <a:pt x="6621" y="2672"/>
                    <a:pt x="6550" y="2505"/>
                  </a:cubicBezTo>
                  <a:lnTo>
                    <a:pt x="6145" y="1481"/>
                  </a:lnTo>
                  <a:cubicBezTo>
                    <a:pt x="6086" y="1364"/>
                    <a:pt x="5947" y="1278"/>
                    <a:pt x="5806" y="1278"/>
                  </a:cubicBezTo>
                  <a:cubicBezTo>
                    <a:pt x="5776" y="1278"/>
                    <a:pt x="5746" y="1282"/>
                    <a:pt x="5716" y="1291"/>
                  </a:cubicBezTo>
                  <a:lnTo>
                    <a:pt x="5097" y="1481"/>
                  </a:lnTo>
                  <a:lnTo>
                    <a:pt x="5264" y="838"/>
                  </a:lnTo>
                  <a:cubicBezTo>
                    <a:pt x="5311" y="671"/>
                    <a:pt x="5240" y="505"/>
                    <a:pt x="5073" y="433"/>
                  </a:cubicBezTo>
                  <a:lnTo>
                    <a:pt x="4049" y="28"/>
                  </a:lnTo>
                  <a:cubicBezTo>
                    <a:pt x="4005" y="9"/>
                    <a:pt x="3958" y="0"/>
                    <a:pt x="3913" y="0"/>
                  </a:cubicBezTo>
                  <a:cubicBezTo>
                    <a:pt x="3789" y="0"/>
                    <a:pt x="3673" y="67"/>
                    <a:pt x="3621" y="171"/>
                  </a:cubicBezTo>
                  <a:lnTo>
                    <a:pt x="3311" y="743"/>
                  </a:lnTo>
                  <a:lnTo>
                    <a:pt x="3001" y="171"/>
                  </a:lnTo>
                  <a:cubicBezTo>
                    <a:pt x="2932" y="67"/>
                    <a:pt x="2811" y="0"/>
                    <a:pt x="26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015;p69">
              <a:extLst>
                <a:ext uri="{FF2B5EF4-FFF2-40B4-BE49-F238E27FC236}">
                  <a16:creationId xmlns:a16="http://schemas.microsoft.com/office/drawing/2014/main" id="{E7FECA42-9FEA-CFF9-CAA6-2D071F06DE7B}"/>
                </a:ext>
              </a:extLst>
            </p:cNvPr>
            <p:cNvSpPr/>
            <p:nvPr/>
          </p:nvSpPr>
          <p:spPr>
            <a:xfrm>
              <a:off x="5669426" y="3980479"/>
              <a:ext cx="104847" cy="119102"/>
            </a:xfrm>
            <a:custGeom>
              <a:avLst/>
              <a:gdLst/>
              <a:ahLst/>
              <a:cxnLst/>
              <a:rect l="l" t="t" r="r" b="b"/>
              <a:pathLst>
                <a:path w="3001" h="3409" extrusionOk="0">
                  <a:moveTo>
                    <a:pt x="908" y="0"/>
                  </a:moveTo>
                  <a:cubicBezTo>
                    <a:pt x="803" y="0"/>
                    <a:pt x="699" y="49"/>
                    <a:pt x="643" y="146"/>
                  </a:cubicBezTo>
                  <a:lnTo>
                    <a:pt x="119" y="837"/>
                  </a:lnTo>
                  <a:cubicBezTo>
                    <a:pt x="0" y="980"/>
                    <a:pt x="24" y="1170"/>
                    <a:pt x="143" y="1289"/>
                  </a:cubicBezTo>
                  <a:lnTo>
                    <a:pt x="715" y="1861"/>
                  </a:lnTo>
                  <a:cubicBezTo>
                    <a:pt x="786" y="1932"/>
                    <a:pt x="875" y="1968"/>
                    <a:pt x="965" y="1968"/>
                  </a:cubicBezTo>
                  <a:cubicBezTo>
                    <a:pt x="1054" y="1968"/>
                    <a:pt x="1143" y="1932"/>
                    <a:pt x="1215" y="1861"/>
                  </a:cubicBezTo>
                  <a:cubicBezTo>
                    <a:pt x="1358" y="1718"/>
                    <a:pt x="1358" y="1504"/>
                    <a:pt x="1215" y="1361"/>
                  </a:cubicBezTo>
                  <a:lnTo>
                    <a:pt x="1143" y="1313"/>
                  </a:lnTo>
                  <a:lnTo>
                    <a:pt x="1143" y="1313"/>
                  </a:lnTo>
                  <a:cubicBezTo>
                    <a:pt x="1405" y="1337"/>
                    <a:pt x="1620" y="1456"/>
                    <a:pt x="1810" y="1646"/>
                  </a:cubicBezTo>
                  <a:cubicBezTo>
                    <a:pt x="2143" y="1980"/>
                    <a:pt x="2263" y="2480"/>
                    <a:pt x="2096" y="2932"/>
                  </a:cubicBezTo>
                  <a:cubicBezTo>
                    <a:pt x="2024" y="3123"/>
                    <a:pt x="2120" y="3313"/>
                    <a:pt x="2286" y="3385"/>
                  </a:cubicBezTo>
                  <a:cubicBezTo>
                    <a:pt x="2330" y="3401"/>
                    <a:pt x="2374" y="3409"/>
                    <a:pt x="2416" y="3409"/>
                  </a:cubicBezTo>
                  <a:cubicBezTo>
                    <a:pt x="2558" y="3409"/>
                    <a:pt x="2684" y="3323"/>
                    <a:pt x="2739" y="3194"/>
                  </a:cubicBezTo>
                  <a:cubicBezTo>
                    <a:pt x="3001" y="2480"/>
                    <a:pt x="2834" y="1694"/>
                    <a:pt x="2310" y="1146"/>
                  </a:cubicBezTo>
                  <a:cubicBezTo>
                    <a:pt x="2001" y="837"/>
                    <a:pt x="1572" y="646"/>
                    <a:pt x="1143" y="599"/>
                  </a:cubicBezTo>
                  <a:lnTo>
                    <a:pt x="1191" y="551"/>
                  </a:lnTo>
                  <a:cubicBezTo>
                    <a:pt x="1310" y="408"/>
                    <a:pt x="1286" y="170"/>
                    <a:pt x="1119" y="75"/>
                  </a:cubicBezTo>
                  <a:cubicBezTo>
                    <a:pt x="1060" y="25"/>
                    <a:pt x="984" y="0"/>
                    <a:pt x="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016;p69">
              <a:extLst>
                <a:ext uri="{FF2B5EF4-FFF2-40B4-BE49-F238E27FC236}">
                  <a16:creationId xmlns:a16="http://schemas.microsoft.com/office/drawing/2014/main" id="{AEB4A699-F139-3629-F56C-BD9DEB693931}"/>
                </a:ext>
              </a:extLst>
            </p:cNvPr>
            <p:cNvSpPr/>
            <p:nvPr/>
          </p:nvSpPr>
          <p:spPr>
            <a:xfrm>
              <a:off x="5473043" y="4196079"/>
              <a:ext cx="104882" cy="119346"/>
            </a:xfrm>
            <a:custGeom>
              <a:avLst/>
              <a:gdLst/>
              <a:ahLst/>
              <a:cxnLst/>
              <a:rect l="l" t="t" r="r" b="b"/>
              <a:pathLst>
                <a:path w="3002" h="3416" extrusionOk="0">
                  <a:moveTo>
                    <a:pt x="598" y="0"/>
                  </a:moveTo>
                  <a:cubicBezTo>
                    <a:pt x="461" y="0"/>
                    <a:pt x="324" y="91"/>
                    <a:pt x="287" y="238"/>
                  </a:cubicBezTo>
                  <a:cubicBezTo>
                    <a:pt x="1" y="929"/>
                    <a:pt x="168" y="1739"/>
                    <a:pt x="715" y="2262"/>
                  </a:cubicBezTo>
                  <a:cubicBezTo>
                    <a:pt x="1025" y="2572"/>
                    <a:pt x="1430" y="2763"/>
                    <a:pt x="1858" y="2810"/>
                  </a:cubicBezTo>
                  <a:lnTo>
                    <a:pt x="1811" y="2858"/>
                  </a:lnTo>
                  <a:cubicBezTo>
                    <a:pt x="1716" y="3025"/>
                    <a:pt x="1739" y="3239"/>
                    <a:pt x="1906" y="3358"/>
                  </a:cubicBezTo>
                  <a:cubicBezTo>
                    <a:pt x="1963" y="3396"/>
                    <a:pt x="2032" y="3415"/>
                    <a:pt x="2101" y="3415"/>
                  </a:cubicBezTo>
                  <a:cubicBezTo>
                    <a:pt x="2205" y="3415"/>
                    <a:pt x="2311" y="3372"/>
                    <a:pt x="2382" y="3286"/>
                  </a:cubicBezTo>
                  <a:lnTo>
                    <a:pt x="2906" y="2572"/>
                  </a:lnTo>
                  <a:cubicBezTo>
                    <a:pt x="3002" y="2429"/>
                    <a:pt x="3002" y="2239"/>
                    <a:pt x="2882" y="2120"/>
                  </a:cubicBezTo>
                  <a:lnTo>
                    <a:pt x="2311" y="1548"/>
                  </a:lnTo>
                  <a:lnTo>
                    <a:pt x="2311" y="1572"/>
                  </a:lnTo>
                  <a:cubicBezTo>
                    <a:pt x="2239" y="1500"/>
                    <a:pt x="2150" y="1465"/>
                    <a:pt x="2061" y="1465"/>
                  </a:cubicBezTo>
                  <a:cubicBezTo>
                    <a:pt x="1972" y="1465"/>
                    <a:pt x="1882" y="1500"/>
                    <a:pt x="1811" y="1572"/>
                  </a:cubicBezTo>
                  <a:cubicBezTo>
                    <a:pt x="1668" y="1691"/>
                    <a:pt x="1668" y="1929"/>
                    <a:pt x="1811" y="2048"/>
                  </a:cubicBezTo>
                  <a:lnTo>
                    <a:pt x="1882" y="2120"/>
                  </a:lnTo>
                  <a:cubicBezTo>
                    <a:pt x="1620" y="2072"/>
                    <a:pt x="1382" y="1953"/>
                    <a:pt x="1215" y="1786"/>
                  </a:cubicBezTo>
                  <a:cubicBezTo>
                    <a:pt x="858" y="1429"/>
                    <a:pt x="763" y="929"/>
                    <a:pt x="930" y="476"/>
                  </a:cubicBezTo>
                  <a:cubicBezTo>
                    <a:pt x="1001" y="310"/>
                    <a:pt x="906" y="95"/>
                    <a:pt x="715" y="24"/>
                  </a:cubicBezTo>
                  <a:cubicBezTo>
                    <a:pt x="678" y="8"/>
                    <a:pt x="638" y="0"/>
                    <a:pt x="5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5918;p82">
            <a:extLst>
              <a:ext uri="{FF2B5EF4-FFF2-40B4-BE49-F238E27FC236}">
                <a16:creationId xmlns:a16="http://schemas.microsoft.com/office/drawing/2014/main" id="{193DE72A-E3AE-1E3E-28A5-8C597C7AA2E8}"/>
              </a:ext>
            </a:extLst>
          </p:cNvPr>
          <p:cNvGrpSpPr/>
          <p:nvPr/>
        </p:nvGrpSpPr>
        <p:grpSpPr>
          <a:xfrm>
            <a:off x="755243" y="2442053"/>
            <a:ext cx="342580" cy="339271"/>
            <a:chOff x="5049725" y="1435050"/>
            <a:chExt cx="486550" cy="481850"/>
          </a:xfrm>
        </p:grpSpPr>
        <p:sp>
          <p:nvSpPr>
            <p:cNvPr id="726" name="Google Shape;5919;p82">
              <a:extLst>
                <a:ext uri="{FF2B5EF4-FFF2-40B4-BE49-F238E27FC236}">
                  <a16:creationId xmlns:a16="http://schemas.microsoft.com/office/drawing/2014/main" id="{76FEE40F-F07D-99BC-45B4-3E086C3680F6}"/>
                </a:ext>
              </a:extLst>
            </p:cNvPr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27" name="Google Shape;5920;p82">
              <a:extLst>
                <a:ext uri="{FF2B5EF4-FFF2-40B4-BE49-F238E27FC236}">
                  <a16:creationId xmlns:a16="http://schemas.microsoft.com/office/drawing/2014/main" id="{D90E2757-9CEC-7311-1425-8D3996821461}"/>
                </a:ext>
              </a:extLst>
            </p:cNvPr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28" name="Google Shape;5921;p82">
              <a:extLst>
                <a:ext uri="{FF2B5EF4-FFF2-40B4-BE49-F238E27FC236}">
                  <a16:creationId xmlns:a16="http://schemas.microsoft.com/office/drawing/2014/main" id="{351D3554-0FF8-B246-7F3F-AF0CB85568B5}"/>
                </a:ext>
              </a:extLst>
            </p:cNvPr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29" name="Google Shape;5922;p82">
              <a:extLst>
                <a:ext uri="{FF2B5EF4-FFF2-40B4-BE49-F238E27FC236}">
                  <a16:creationId xmlns:a16="http://schemas.microsoft.com/office/drawing/2014/main" id="{77BE01C5-9E44-0E73-ABC1-5AB5A31388E9}"/>
                </a:ext>
              </a:extLst>
            </p:cNvPr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30" name="Google Shape;5805;p82">
            <a:extLst>
              <a:ext uri="{FF2B5EF4-FFF2-40B4-BE49-F238E27FC236}">
                <a16:creationId xmlns:a16="http://schemas.microsoft.com/office/drawing/2014/main" id="{05A33FAA-0EC5-0172-E69C-AC1944E173F3}"/>
              </a:ext>
            </a:extLst>
          </p:cNvPr>
          <p:cNvGrpSpPr/>
          <p:nvPr/>
        </p:nvGrpSpPr>
        <p:grpSpPr>
          <a:xfrm>
            <a:off x="7362086" y="1379573"/>
            <a:ext cx="340890" cy="178912"/>
            <a:chOff x="2084325" y="363300"/>
            <a:chExt cx="484150" cy="254100"/>
          </a:xfrm>
        </p:grpSpPr>
        <p:sp>
          <p:nvSpPr>
            <p:cNvPr id="731" name="Google Shape;5806;p82">
              <a:extLst>
                <a:ext uri="{FF2B5EF4-FFF2-40B4-BE49-F238E27FC236}">
                  <a16:creationId xmlns:a16="http://schemas.microsoft.com/office/drawing/2014/main" id="{1DB76B01-A710-00F0-C00C-BE4848060836}"/>
                </a:ext>
              </a:extLst>
            </p:cNvPr>
            <p:cNvSpPr/>
            <p:nvPr/>
          </p:nvSpPr>
          <p:spPr>
            <a:xfrm>
              <a:off x="2084325" y="363300"/>
              <a:ext cx="484150" cy="254100"/>
            </a:xfrm>
            <a:custGeom>
              <a:avLst/>
              <a:gdLst/>
              <a:ahLst/>
              <a:cxnLst/>
              <a:rect l="l" t="t" r="r" b="b"/>
              <a:pathLst>
                <a:path w="19366" h="10164" extrusionOk="0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32" name="Google Shape;5807;p82">
              <a:extLst>
                <a:ext uri="{FF2B5EF4-FFF2-40B4-BE49-F238E27FC236}">
                  <a16:creationId xmlns:a16="http://schemas.microsoft.com/office/drawing/2014/main" id="{FEE2A841-24C5-9EE2-E58C-74DFB1D3AB3E}"/>
                </a:ext>
              </a:extLst>
            </p:cNvPr>
            <p:cNvSpPr/>
            <p:nvPr/>
          </p:nvSpPr>
          <p:spPr>
            <a:xfrm>
              <a:off x="2250600" y="419775"/>
              <a:ext cx="145175" cy="141125"/>
            </a:xfrm>
            <a:custGeom>
              <a:avLst/>
              <a:gdLst/>
              <a:ahLst/>
              <a:cxnLst/>
              <a:rect l="l" t="t" r="r" b="b"/>
              <a:pathLst>
                <a:path w="5807" h="5645" extrusionOk="0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Analysis for Marketing Strategies by Slidesgo">
  <a:themeElements>
    <a:clrScheme name="Personalizada 2">
      <a:dk1>
        <a:srgbClr val="081004"/>
      </a:dk1>
      <a:lt1>
        <a:srgbClr val="F7F7F7"/>
      </a:lt1>
      <a:dk2>
        <a:srgbClr val="EF76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8100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970716a-5ca3-4000-8c3b-638e6f999fdc}" enabled="1" method="Standard" siteId="{ba297f1d-f19e-425f-ad15-7b419df80522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576</Words>
  <Application>Microsoft Office PowerPoint</Application>
  <PresentationFormat>Apresentação na tela 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Albert Sans</vt:lpstr>
      <vt:lpstr>Marcellus</vt:lpstr>
      <vt:lpstr>Arial</vt:lpstr>
      <vt:lpstr>Calibri</vt:lpstr>
      <vt:lpstr>Söhne</vt:lpstr>
      <vt:lpstr>Bebas Neue</vt:lpstr>
      <vt:lpstr>Data Analysis for Marketing Strategies by Slidesgo</vt:lpstr>
      <vt:lpstr>ANÁLISE DE DADOS PARA ESTRATÉGIAS DE CRM</vt:lpstr>
      <vt:lpstr>ENTENDIMENTO DO NEGÓCIO</vt:lpstr>
      <vt:lpstr>ANÁLISE DA BD</vt:lpstr>
      <vt:lpstr>RESUMO DOS CLIENTES</vt:lpstr>
      <vt:lpstr>Apresentação do PowerPoint</vt:lpstr>
      <vt:lpstr>RESULTADOS</vt:lpstr>
      <vt:lpstr>AVALIANDO O MODELO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FOR MARKETING STRATEGIES</dc:title>
  <cp:lastModifiedBy>MARINA BELLEI</cp:lastModifiedBy>
  <cp:revision>5</cp:revision>
  <dcterms:modified xsi:type="dcterms:W3CDTF">2023-12-07T02:22:12Z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Data Analysis for Marketing Strategies by Slidesgo:3</vt:lpwstr>
  </property>
  <property fmtid="{D5CDD505-2E9C-101B-9397-08002B2CF9AE}" pid="3" name="ClassificationContentMarkingFooterText">
    <vt:lpwstr>#INTERNO#</vt:lpwstr>
  </property>
</Properties>
</file>